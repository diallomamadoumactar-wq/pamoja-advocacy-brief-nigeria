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9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605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9267A"/>
        </a:solidFill>
        <a:effectLst/>
      </p:bgPr>
    </p:bg>
    <p:spTree>
      <p:nvGrpSpPr>
        <p:cNvPr id="1" name=""/>
        <p:cNvGrpSpPr/>
        <p:nvPr/>
      </p:nvGrpSpPr>
      <p:grpSpPr>
        <a:xfrm>
          <a:off x="0" y="0"/>
          <a:ext cx="0" cy="0"/>
          <a:chOff x="0" y="0"/>
          <a:chExt cx="0" cy="0"/>
        </a:xfrm>
      </p:grpSpPr>
      <p:sp>
        <p:nvSpPr>
          <p:cNvPr id="2" name="Text 0"/>
          <p:cNvSpPr/>
          <p:nvPr/>
        </p:nvSpPr>
        <p:spPr>
          <a:xfrm>
            <a:off x="9601200" y="274320"/>
            <a:ext cx="2286000" cy="2286000"/>
          </a:xfrm>
          <a:prstGeom prst="rect">
            <a:avLst/>
          </a:prstGeom>
          <a:noFill/>
          <a:ln/>
        </p:spPr>
        <p:txBody>
          <a:bodyPr wrap="square" lIns="0" tIns="0" rIns="0" bIns="0" rtlCol="0" anchor="ctr"/>
          <a:lstStyle/>
          <a:p>
            <a:pPr marL="0" indent="0" algn="ctr">
              <a:buNone/>
            </a:pPr>
            <a:r>
              <a:rPr lang="en-US" sz="22000" dirty="0">
                <a:solidFill>
                  <a:srgbClr val="F8C501"/>
                </a:solidFill>
                <a:latin typeface="Arial" pitchFamily="34" charset="0"/>
                <a:ea typeface="Arial" pitchFamily="34" charset="-122"/>
                <a:cs typeface="Arial" pitchFamily="34" charset="-120"/>
              </a:rPr>
              <a:t>✦</a:t>
            </a:r>
            <a:endParaRPr lang="en-US" sz="22000" dirty="0"/>
          </a:p>
        </p:txBody>
      </p:sp>
      <p:pic>
        <p:nvPicPr>
          <p:cNvPr id="3" name="Image 0" descr="/home/claude/work/pamoja_logo_white.png"/>
          <p:cNvPicPr>
            <a:picLocks noChangeAspect="1"/>
          </p:cNvPicPr>
          <p:nvPr/>
        </p:nvPicPr>
        <p:blipFill>
          <a:blip r:embed="rId3"/>
          <a:srcRect/>
          <a:stretch/>
        </p:blipFill>
        <p:spPr>
          <a:xfrm>
            <a:off x="640080" y="548640"/>
            <a:ext cx="2377440" cy="731520"/>
          </a:xfrm>
          <a:prstGeom prst="rect">
            <a:avLst/>
          </a:prstGeom>
        </p:spPr>
      </p:pic>
      <p:sp>
        <p:nvSpPr>
          <p:cNvPr id="4" name="Text 1"/>
          <p:cNvSpPr/>
          <p:nvPr/>
        </p:nvSpPr>
        <p:spPr>
          <a:xfrm>
            <a:off x="640080" y="2103120"/>
            <a:ext cx="7315200" cy="320040"/>
          </a:xfrm>
          <a:prstGeom prst="rect">
            <a:avLst/>
          </a:prstGeom>
          <a:noFill/>
          <a:ln/>
        </p:spPr>
        <p:txBody>
          <a:bodyPr wrap="square" lIns="0" tIns="0" rIns="0" bIns="0" rtlCol="0" anchor="ctr"/>
          <a:lstStyle/>
          <a:p>
            <a:pPr marL="0" indent="0">
              <a:buNone/>
            </a:pPr>
            <a:r>
              <a:rPr lang="en-US" sz="1100" b="1" kern="0" spc="400" dirty="0">
                <a:solidFill>
                  <a:srgbClr val="F8C501"/>
                </a:solidFill>
                <a:latin typeface="Arial" pitchFamily="34" charset="0"/>
                <a:ea typeface="Arial" pitchFamily="34" charset="-122"/>
                <a:cs typeface="Arial" pitchFamily="34" charset="-120"/>
              </a:rPr>
              <a:t>ADVOCACY BRIEF  ·  NIGERIA  ·  2026</a:t>
            </a:r>
            <a:endParaRPr lang="en-US" sz="1100" dirty="0"/>
          </a:p>
        </p:txBody>
      </p:sp>
      <p:sp>
        <p:nvSpPr>
          <p:cNvPr id="5" name="Text 2"/>
          <p:cNvSpPr/>
          <p:nvPr/>
        </p:nvSpPr>
        <p:spPr>
          <a:xfrm>
            <a:off x="640080" y="2468880"/>
            <a:ext cx="10515600" cy="1920240"/>
          </a:xfrm>
          <a:prstGeom prst="rect">
            <a:avLst/>
          </a:prstGeom>
          <a:noFill/>
          <a:ln/>
        </p:spPr>
        <p:txBody>
          <a:bodyPr wrap="square" lIns="0" tIns="0" rIns="0" bIns="0" rtlCol="0" anchor="ctr"/>
          <a:lstStyle/>
          <a:p>
            <a:pPr marL="0" indent="0">
              <a:buNone/>
            </a:pPr>
            <a:r>
              <a:rPr lang="en-US" sz="5200" b="1" kern="0" spc="-100" dirty="0">
                <a:solidFill>
                  <a:srgbClr val="FFFFFF"/>
                </a:solidFill>
                <a:latin typeface="Arial Black" pitchFamily="34" charset="0"/>
                <a:ea typeface="Arial Black" pitchFamily="34" charset="-122"/>
                <a:cs typeface="Arial Black" pitchFamily="34" charset="-120"/>
              </a:rPr>
              <a:t>Reconsidering Nigeria's Restrictive Abortion Laws</a:t>
            </a:r>
            <a:endParaRPr lang="en-US" sz="5200" dirty="0"/>
          </a:p>
        </p:txBody>
      </p:sp>
      <p:sp>
        <p:nvSpPr>
          <p:cNvPr id="6" name="Text 3"/>
          <p:cNvSpPr/>
          <p:nvPr/>
        </p:nvSpPr>
        <p:spPr>
          <a:xfrm>
            <a:off x="640080" y="4480560"/>
            <a:ext cx="10058400" cy="548640"/>
          </a:xfrm>
          <a:prstGeom prst="rect">
            <a:avLst/>
          </a:prstGeom>
          <a:noFill/>
          <a:ln/>
        </p:spPr>
        <p:txBody>
          <a:bodyPr wrap="square" lIns="0" tIns="0" rIns="0" bIns="0" rtlCol="0" anchor="ctr"/>
          <a:lstStyle/>
          <a:p>
            <a:pPr marL="0" indent="0">
              <a:buNone/>
            </a:pPr>
            <a:r>
              <a:rPr lang="en-US" sz="2000" i="1" dirty="0">
                <a:solidFill>
                  <a:srgbClr val="FFFFFF"/>
                </a:solidFill>
                <a:latin typeface="Arial" pitchFamily="34" charset="0"/>
                <a:ea typeface="Arial" pitchFamily="34" charset="-122"/>
                <a:cs typeface="Arial" pitchFamily="34" charset="-120"/>
              </a:rPr>
              <a:t>A public health, human rights, and legislative imperative.</a:t>
            </a:r>
            <a:endParaRPr lang="en-US" sz="2000" dirty="0"/>
          </a:p>
        </p:txBody>
      </p:sp>
      <p:sp>
        <p:nvSpPr>
          <p:cNvPr id="7" name="Shape 4"/>
          <p:cNvSpPr/>
          <p:nvPr/>
        </p:nvSpPr>
        <p:spPr>
          <a:xfrm>
            <a:off x="640080" y="5486400"/>
            <a:ext cx="73152" cy="640080"/>
          </a:xfrm>
          <a:prstGeom prst="rect">
            <a:avLst/>
          </a:prstGeom>
          <a:solidFill>
            <a:srgbClr val="E62B67"/>
          </a:solidFill>
          <a:ln/>
        </p:spPr>
        <p:txBody>
          <a:bodyPr/>
          <a:lstStyle/>
          <a:p>
            <a:endParaRPr lang="en-US"/>
          </a:p>
        </p:txBody>
      </p:sp>
      <p:sp>
        <p:nvSpPr>
          <p:cNvPr id="8" name="Text 5"/>
          <p:cNvSpPr/>
          <p:nvPr/>
        </p:nvSpPr>
        <p:spPr>
          <a:xfrm>
            <a:off x="868680" y="5486400"/>
            <a:ext cx="10058400" cy="365760"/>
          </a:xfrm>
          <a:prstGeom prst="rect">
            <a:avLst/>
          </a:prstGeom>
          <a:noFill/>
          <a:ln/>
        </p:spPr>
        <p:txBody>
          <a:bodyPr wrap="square" lIns="0" tIns="0" rIns="0" bIns="0" rtlCol="0" anchor="ctr"/>
          <a:lstStyle/>
          <a:p>
            <a:pPr marL="0" indent="0">
              <a:buNone/>
            </a:pPr>
            <a:r>
              <a:rPr lang="en-US" sz="1000" b="1" kern="0" spc="300" dirty="0">
                <a:solidFill>
                  <a:srgbClr val="F8C501"/>
                </a:solidFill>
                <a:latin typeface="Arial" pitchFamily="34" charset="0"/>
                <a:ea typeface="Arial" pitchFamily="34" charset="-122"/>
                <a:cs typeface="Arial" pitchFamily="34" charset="-120"/>
              </a:rPr>
              <a:t>FOR  </a:t>
            </a:r>
            <a:r>
              <a:rPr lang="en-US" sz="1200" dirty="0">
                <a:solidFill>
                  <a:srgbClr val="FFFFFF"/>
                </a:solidFill>
                <a:latin typeface="Arial" pitchFamily="34" charset="0"/>
                <a:ea typeface="Arial" pitchFamily="34" charset="-122"/>
                <a:cs typeface="Arial" pitchFamily="34" charset="-120"/>
              </a:rPr>
              <a:t>CSO partners  ·  Pamoja internal team  ·  Creative agencies</a:t>
            </a:r>
            <a:endParaRPr lang="en-US" sz="1000" dirty="0"/>
          </a:p>
        </p:txBody>
      </p:sp>
      <p:sp>
        <p:nvSpPr>
          <p:cNvPr id="9" name="Text 6"/>
          <p:cNvSpPr/>
          <p:nvPr/>
        </p:nvSpPr>
        <p:spPr>
          <a:xfrm>
            <a:off x="868680" y="5852160"/>
            <a:ext cx="10058400" cy="502920"/>
          </a:xfrm>
          <a:prstGeom prst="rect">
            <a:avLst/>
          </a:prstGeom>
          <a:noFill/>
          <a:ln/>
        </p:spPr>
        <p:txBody>
          <a:bodyPr wrap="square" lIns="0" tIns="0" rIns="0" bIns="0" rtlCol="0" anchor="ctr"/>
          <a:lstStyle/>
          <a:p>
            <a:pPr marL="0" indent="0">
              <a:buNone/>
            </a:pPr>
            <a:r>
              <a:rPr lang="en-US" sz="1100" i="1" dirty="0">
                <a:solidFill>
                  <a:srgbClr val="FFFFFF"/>
                </a:solidFill>
                <a:latin typeface="Arial" pitchFamily="34" charset="0"/>
                <a:ea typeface="Arial" pitchFamily="34" charset="-122"/>
                <a:cs typeface="Arial" pitchFamily="34" charset="-120"/>
              </a:rPr>
              <a:t>A communication tool to align partners, brief teams, and orient creative work around the legislative window now open in Nigeria.</a:t>
            </a:r>
            <a:endParaRPr lang="en-US" sz="1100" dirty="0"/>
          </a:p>
        </p:txBody>
      </p:sp>
      <p:sp>
        <p:nvSpPr>
          <p:cNvPr id="10" name="Shape 7"/>
          <p:cNvSpPr/>
          <p:nvPr/>
        </p:nvSpPr>
        <p:spPr>
          <a:xfrm>
            <a:off x="0" y="6629400"/>
            <a:ext cx="12161520" cy="228600"/>
          </a:xfrm>
          <a:prstGeom prst="rect">
            <a:avLst/>
          </a:prstGeom>
          <a:solidFill>
            <a:srgbClr val="E62B67"/>
          </a:solidFill>
          <a:ln/>
        </p:spPr>
        <p:txBody>
          <a:bodyPr/>
          <a:lstStyle/>
          <a:p>
            <a:endParaRPr lang="en-US"/>
          </a:p>
        </p:txBody>
      </p:sp>
      <p:sp>
        <p:nvSpPr>
          <p:cNvPr id="11" name="Text 8"/>
          <p:cNvSpPr/>
          <p:nvPr/>
        </p:nvSpPr>
        <p:spPr>
          <a:xfrm>
            <a:off x="457200" y="6647688"/>
            <a:ext cx="109728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Developed and produced by Pamoja  ·  Civil Society Organisations Together to Make Abortion Safe in Africa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731520" cy="457200"/>
          </a:xfrm>
          <a:prstGeom prst="rect">
            <a:avLst/>
          </a:prstGeom>
          <a:noFill/>
          <a:ln/>
        </p:spPr>
        <p:txBody>
          <a:bodyPr wrap="square" lIns="0" tIns="0" rIns="0" bIns="0" rtlCol="0" anchor="ctr"/>
          <a:lstStyle/>
          <a:p>
            <a:pPr marL="0" indent="0">
              <a:buNone/>
            </a:pPr>
            <a:r>
              <a:rPr lang="en-US" sz="3600" b="1" dirty="0">
                <a:solidFill>
                  <a:srgbClr val="F8C501"/>
                </a:solidFill>
                <a:latin typeface="Arial Black" pitchFamily="34" charset="0"/>
                <a:ea typeface="Arial Black" pitchFamily="34" charset="-122"/>
                <a:cs typeface="Arial Black" pitchFamily="34" charset="-120"/>
              </a:rPr>
              <a:t>02</a:t>
            </a:r>
            <a:endParaRPr lang="en-US" sz="3600" dirty="0"/>
          </a:p>
        </p:txBody>
      </p:sp>
      <p:sp>
        <p:nvSpPr>
          <p:cNvPr id="4" name="Text 1"/>
          <p:cNvSpPr/>
          <p:nvPr/>
        </p:nvSpPr>
        <p:spPr>
          <a:xfrm>
            <a:off x="137160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HOW TO USE THIS DECK</a:t>
            </a:r>
            <a:endParaRPr lang="en-US" sz="1100" dirty="0"/>
          </a:p>
        </p:txBody>
      </p:sp>
      <p:sp>
        <p:nvSpPr>
          <p:cNvPr id="5" name="Text 2"/>
          <p:cNvSpPr/>
          <p:nvPr/>
        </p:nvSpPr>
        <p:spPr>
          <a:xfrm>
            <a:off x="640080" y="1097280"/>
            <a:ext cx="10058400" cy="822960"/>
          </a:xfrm>
          <a:prstGeom prst="rect">
            <a:avLst/>
          </a:prstGeom>
          <a:noFill/>
          <a:ln/>
        </p:spPr>
        <p:txBody>
          <a:bodyPr wrap="square" lIns="0" tIns="0" rIns="0" bIns="0" rtlCol="0" anchor="ctr"/>
          <a:lstStyle/>
          <a:p>
            <a:pPr marL="0" indent="0">
              <a:buNone/>
            </a:pPr>
            <a:r>
              <a:rPr lang="en-US" sz="2800" b="1" kern="0" spc="-50" dirty="0">
                <a:solidFill>
                  <a:srgbClr val="49267A"/>
                </a:solidFill>
                <a:latin typeface="Arial Black" pitchFamily="34" charset="0"/>
                <a:ea typeface="Arial Black" pitchFamily="34" charset="-122"/>
                <a:cs typeface="Arial Black" pitchFamily="34" charset="-120"/>
              </a:rPr>
              <a:t>A shared reference point for the people who will move this work forward.</a:t>
            </a:r>
            <a:endParaRPr lang="en-US" sz="2800" dirty="0"/>
          </a:p>
        </p:txBody>
      </p:sp>
      <p:sp>
        <p:nvSpPr>
          <p:cNvPr id="6" name="Shape 3"/>
          <p:cNvSpPr/>
          <p:nvPr/>
        </p:nvSpPr>
        <p:spPr>
          <a:xfrm>
            <a:off x="640080" y="2194560"/>
            <a:ext cx="3657600" cy="4114800"/>
          </a:xfrm>
          <a:prstGeom prst="rect">
            <a:avLst/>
          </a:prstGeom>
          <a:solidFill>
            <a:srgbClr val="49267A"/>
          </a:solidFill>
          <a:ln/>
        </p:spPr>
        <p:txBody>
          <a:bodyPr/>
          <a:lstStyle/>
          <a:p>
            <a:endParaRPr lang="en-US"/>
          </a:p>
        </p:txBody>
      </p:sp>
      <p:sp>
        <p:nvSpPr>
          <p:cNvPr id="7" name="Text 4"/>
          <p:cNvSpPr/>
          <p:nvPr/>
        </p:nvSpPr>
        <p:spPr>
          <a:xfrm>
            <a:off x="1005840" y="2514600"/>
            <a:ext cx="914400" cy="548640"/>
          </a:xfrm>
          <a:prstGeom prst="rect">
            <a:avLst/>
          </a:prstGeom>
          <a:noFill/>
          <a:ln/>
        </p:spPr>
        <p:txBody>
          <a:bodyPr wrap="square" lIns="0" tIns="0" rIns="0" bIns="0" rtlCol="0" anchor="ctr"/>
          <a:lstStyle/>
          <a:p>
            <a:pPr marL="0" indent="0">
              <a:buNone/>
            </a:pPr>
            <a:r>
              <a:rPr lang="en-US" sz="3800" b="1" dirty="0">
                <a:solidFill>
                  <a:srgbClr val="FFFFFF">
                    <a:alpha val="70000"/>
                  </a:srgbClr>
                </a:solidFill>
                <a:latin typeface="Arial Black" pitchFamily="34" charset="0"/>
                <a:ea typeface="Arial Black" pitchFamily="34" charset="-122"/>
                <a:cs typeface="Arial Black" pitchFamily="34" charset="-120"/>
              </a:rPr>
              <a:t>01</a:t>
            </a:r>
            <a:endParaRPr lang="en-US" sz="3800" dirty="0"/>
          </a:p>
        </p:txBody>
      </p:sp>
      <p:sp>
        <p:nvSpPr>
          <p:cNvPr id="8" name="Text 5"/>
          <p:cNvSpPr/>
          <p:nvPr/>
        </p:nvSpPr>
        <p:spPr>
          <a:xfrm>
            <a:off x="1005840" y="3200400"/>
            <a:ext cx="2926080" cy="320040"/>
          </a:xfrm>
          <a:prstGeom prst="rect">
            <a:avLst/>
          </a:prstGeom>
          <a:noFill/>
          <a:ln/>
        </p:spPr>
        <p:txBody>
          <a:bodyPr wrap="square" lIns="0" tIns="0" rIns="0" bIns="0" rtlCol="0" anchor="ctr"/>
          <a:lstStyle/>
          <a:p>
            <a:pPr marL="0" indent="0">
              <a:buNone/>
            </a:pPr>
            <a:r>
              <a:rPr lang="en-US" sz="1400" b="1" kern="0" spc="200" dirty="0">
                <a:solidFill>
                  <a:srgbClr val="FFFFFF"/>
                </a:solidFill>
                <a:latin typeface="Arial Black" pitchFamily="34" charset="0"/>
                <a:ea typeface="Arial Black" pitchFamily="34" charset="-122"/>
                <a:cs typeface="Arial Black" pitchFamily="34" charset="-120"/>
              </a:rPr>
              <a:t>CSO PARTNERS</a:t>
            </a:r>
            <a:endParaRPr lang="en-US" sz="1400" dirty="0"/>
          </a:p>
        </p:txBody>
      </p:sp>
      <p:sp>
        <p:nvSpPr>
          <p:cNvPr id="9" name="Text 6"/>
          <p:cNvSpPr/>
          <p:nvPr/>
        </p:nvSpPr>
        <p:spPr>
          <a:xfrm>
            <a:off x="1005840" y="3566160"/>
            <a:ext cx="2926080" cy="640080"/>
          </a:xfrm>
          <a:prstGeom prst="rect">
            <a:avLst/>
          </a:prstGeom>
          <a:noFill/>
          <a:ln/>
        </p:spPr>
        <p:txBody>
          <a:bodyPr wrap="square" lIns="0" tIns="0" rIns="0" bIns="0" rtlCol="0" anchor="ctr"/>
          <a:lstStyle/>
          <a:p>
            <a:pPr marL="0" indent="0">
              <a:buNone/>
            </a:pPr>
            <a:r>
              <a:rPr lang="en-US" sz="1300" i="1" dirty="0">
                <a:solidFill>
                  <a:srgbClr val="FFFFFF"/>
                </a:solidFill>
                <a:latin typeface="Arial" pitchFamily="34" charset="0"/>
                <a:ea typeface="Arial" pitchFamily="34" charset="-122"/>
                <a:cs typeface="Arial" pitchFamily="34" charset="-120"/>
              </a:rPr>
              <a:t>For your engagements with policymakers and the media.</a:t>
            </a:r>
            <a:endParaRPr lang="en-US" sz="1300" dirty="0"/>
          </a:p>
        </p:txBody>
      </p:sp>
      <p:sp>
        <p:nvSpPr>
          <p:cNvPr id="10" name="Text 7"/>
          <p:cNvSpPr/>
          <p:nvPr/>
        </p:nvSpPr>
        <p:spPr>
          <a:xfrm>
            <a:off x="1005840" y="4389120"/>
            <a:ext cx="2926080" cy="1737360"/>
          </a:xfrm>
          <a:prstGeom prst="rect">
            <a:avLst/>
          </a:prstGeom>
          <a:noFill/>
          <a:ln/>
        </p:spPr>
        <p:txBody>
          <a:bodyPr wrap="square" lIns="0" tIns="0" rIns="0" bIns="0" rtlCol="0" anchor="ctr"/>
          <a:lstStyle/>
          <a:p>
            <a:pPr marL="0" indent="0">
              <a:spcAft>
                <a:spcPts val="600"/>
              </a:spcAft>
              <a:buNone/>
            </a:pPr>
            <a:r>
              <a:rPr lang="en-US" sz="1100" dirty="0">
                <a:solidFill>
                  <a:srgbClr val="FFFFFF"/>
                </a:solidFill>
                <a:latin typeface="Arial" pitchFamily="34" charset="0"/>
                <a:ea typeface="Arial" pitchFamily="34" charset="-122"/>
                <a:cs typeface="Arial" pitchFamily="34" charset="-120"/>
              </a:rPr>
              <a:t>Use Sections 4, 5 and 7 to anchor a values-based pitch. The African comparators (Benin, Malawi, Ethiopia, Rwanda) are your strongest external proof points; the human rights articles are your strongest legal ground.</a:t>
            </a:r>
            <a:endParaRPr lang="en-US" sz="1100" dirty="0"/>
          </a:p>
        </p:txBody>
      </p:sp>
      <p:sp>
        <p:nvSpPr>
          <p:cNvPr id="11" name="Shape 8"/>
          <p:cNvSpPr/>
          <p:nvPr/>
        </p:nvSpPr>
        <p:spPr>
          <a:xfrm>
            <a:off x="4434840" y="2194560"/>
            <a:ext cx="3657600" cy="4114800"/>
          </a:xfrm>
          <a:prstGeom prst="rect">
            <a:avLst/>
          </a:prstGeom>
          <a:solidFill>
            <a:srgbClr val="E62B67"/>
          </a:solidFill>
          <a:ln/>
        </p:spPr>
        <p:txBody>
          <a:bodyPr/>
          <a:lstStyle/>
          <a:p>
            <a:endParaRPr lang="en-US"/>
          </a:p>
        </p:txBody>
      </p:sp>
      <p:sp>
        <p:nvSpPr>
          <p:cNvPr id="12" name="Text 9"/>
          <p:cNvSpPr/>
          <p:nvPr/>
        </p:nvSpPr>
        <p:spPr>
          <a:xfrm>
            <a:off x="4800600" y="2514600"/>
            <a:ext cx="914400" cy="548640"/>
          </a:xfrm>
          <a:prstGeom prst="rect">
            <a:avLst/>
          </a:prstGeom>
          <a:noFill/>
          <a:ln/>
        </p:spPr>
        <p:txBody>
          <a:bodyPr wrap="square" lIns="0" tIns="0" rIns="0" bIns="0" rtlCol="0" anchor="ctr"/>
          <a:lstStyle/>
          <a:p>
            <a:pPr marL="0" indent="0">
              <a:buNone/>
            </a:pPr>
            <a:r>
              <a:rPr lang="en-US" sz="3800" b="1" dirty="0">
                <a:solidFill>
                  <a:srgbClr val="FFFFFF">
                    <a:alpha val="70000"/>
                  </a:srgbClr>
                </a:solidFill>
                <a:latin typeface="Arial Black" pitchFamily="34" charset="0"/>
                <a:ea typeface="Arial Black" pitchFamily="34" charset="-122"/>
                <a:cs typeface="Arial Black" pitchFamily="34" charset="-120"/>
              </a:rPr>
              <a:t>02</a:t>
            </a:r>
            <a:endParaRPr lang="en-US" sz="3800" dirty="0"/>
          </a:p>
        </p:txBody>
      </p:sp>
      <p:sp>
        <p:nvSpPr>
          <p:cNvPr id="13" name="Text 10"/>
          <p:cNvSpPr/>
          <p:nvPr/>
        </p:nvSpPr>
        <p:spPr>
          <a:xfrm>
            <a:off x="4800600" y="3200400"/>
            <a:ext cx="2926080" cy="320040"/>
          </a:xfrm>
          <a:prstGeom prst="rect">
            <a:avLst/>
          </a:prstGeom>
          <a:noFill/>
          <a:ln/>
        </p:spPr>
        <p:txBody>
          <a:bodyPr wrap="square" lIns="0" tIns="0" rIns="0" bIns="0" rtlCol="0" anchor="ctr"/>
          <a:lstStyle/>
          <a:p>
            <a:pPr marL="0" indent="0">
              <a:buNone/>
            </a:pPr>
            <a:r>
              <a:rPr lang="en-US" sz="1400" b="1" kern="0" spc="200" dirty="0">
                <a:solidFill>
                  <a:srgbClr val="FFFFFF"/>
                </a:solidFill>
                <a:latin typeface="Arial Black" pitchFamily="34" charset="0"/>
                <a:ea typeface="Arial Black" pitchFamily="34" charset="-122"/>
                <a:cs typeface="Arial Black" pitchFamily="34" charset="-120"/>
              </a:rPr>
              <a:t>PAMOJA INTERNAL TEAM</a:t>
            </a:r>
            <a:endParaRPr lang="en-US" sz="1400" dirty="0"/>
          </a:p>
        </p:txBody>
      </p:sp>
      <p:sp>
        <p:nvSpPr>
          <p:cNvPr id="14" name="Text 11"/>
          <p:cNvSpPr/>
          <p:nvPr/>
        </p:nvSpPr>
        <p:spPr>
          <a:xfrm>
            <a:off x="4800600" y="3566160"/>
            <a:ext cx="2926080" cy="640080"/>
          </a:xfrm>
          <a:prstGeom prst="rect">
            <a:avLst/>
          </a:prstGeom>
          <a:noFill/>
          <a:ln/>
        </p:spPr>
        <p:txBody>
          <a:bodyPr wrap="square" lIns="0" tIns="0" rIns="0" bIns="0" rtlCol="0" anchor="ctr"/>
          <a:lstStyle/>
          <a:p>
            <a:pPr marL="0" indent="0">
              <a:buNone/>
            </a:pPr>
            <a:r>
              <a:rPr lang="en-US" sz="1300" i="1" dirty="0">
                <a:solidFill>
                  <a:srgbClr val="FFFFFF"/>
                </a:solidFill>
                <a:latin typeface="Arial" pitchFamily="34" charset="0"/>
                <a:ea typeface="Arial" pitchFamily="34" charset="-122"/>
                <a:cs typeface="Arial" pitchFamily="34" charset="-120"/>
              </a:rPr>
              <a:t>For coalition coordination and message discipline.</a:t>
            </a:r>
            <a:endParaRPr lang="en-US" sz="1300" dirty="0"/>
          </a:p>
        </p:txBody>
      </p:sp>
      <p:sp>
        <p:nvSpPr>
          <p:cNvPr id="15" name="Text 12"/>
          <p:cNvSpPr/>
          <p:nvPr/>
        </p:nvSpPr>
        <p:spPr>
          <a:xfrm>
            <a:off x="4800600" y="4389120"/>
            <a:ext cx="2926080" cy="1737360"/>
          </a:xfrm>
          <a:prstGeom prst="rect">
            <a:avLst/>
          </a:prstGeom>
          <a:noFill/>
          <a:ln/>
        </p:spPr>
        <p:txBody>
          <a:bodyPr wrap="square" lIns="0" tIns="0" rIns="0" bIns="0" rtlCol="0" anchor="ctr"/>
          <a:lstStyle/>
          <a:p>
            <a:pPr marL="0" indent="0">
              <a:spcAft>
                <a:spcPts val="600"/>
              </a:spcAft>
              <a:buNone/>
            </a:pPr>
            <a:r>
              <a:rPr lang="en-US" sz="1100" dirty="0">
                <a:solidFill>
                  <a:srgbClr val="FFFFFF"/>
                </a:solidFill>
                <a:latin typeface="Arial" pitchFamily="34" charset="0"/>
                <a:ea typeface="Arial" pitchFamily="34" charset="-122"/>
                <a:cs typeface="Arial" pitchFamily="34" charset="-120"/>
              </a:rPr>
              <a:t>The narrative spine in Sections 1–3 is the line every partner should be able to repeat. Use it to brief new staff, screen partner content, and check that we are not drifting into confrontational framing.</a:t>
            </a:r>
            <a:endParaRPr lang="en-US" sz="1100" dirty="0"/>
          </a:p>
        </p:txBody>
      </p:sp>
      <p:sp>
        <p:nvSpPr>
          <p:cNvPr id="16" name="Shape 13"/>
          <p:cNvSpPr/>
          <p:nvPr/>
        </p:nvSpPr>
        <p:spPr>
          <a:xfrm>
            <a:off x="8229600" y="2194560"/>
            <a:ext cx="3657600" cy="4114800"/>
          </a:xfrm>
          <a:prstGeom prst="rect">
            <a:avLst/>
          </a:prstGeom>
          <a:solidFill>
            <a:srgbClr val="F8C501"/>
          </a:solidFill>
          <a:ln/>
        </p:spPr>
        <p:txBody>
          <a:bodyPr/>
          <a:lstStyle/>
          <a:p>
            <a:endParaRPr lang="en-US"/>
          </a:p>
        </p:txBody>
      </p:sp>
      <p:sp>
        <p:nvSpPr>
          <p:cNvPr id="17" name="Text 14"/>
          <p:cNvSpPr/>
          <p:nvPr/>
        </p:nvSpPr>
        <p:spPr>
          <a:xfrm>
            <a:off x="8595360" y="2514600"/>
            <a:ext cx="914400" cy="548640"/>
          </a:xfrm>
          <a:prstGeom prst="rect">
            <a:avLst/>
          </a:prstGeom>
          <a:noFill/>
          <a:ln/>
        </p:spPr>
        <p:txBody>
          <a:bodyPr wrap="square" lIns="0" tIns="0" rIns="0" bIns="0" rtlCol="0" anchor="ctr"/>
          <a:lstStyle/>
          <a:p>
            <a:pPr marL="0" indent="0">
              <a:buNone/>
            </a:pPr>
            <a:r>
              <a:rPr lang="en-US" sz="3800" b="1" dirty="0">
                <a:solidFill>
                  <a:srgbClr val="0A0A0A">
                    <a:alpha val="70000"/>
                  </a:srgbClr>
                </a:solidFill>
                <a:latin typeface="Arial Black" pitchFamily="34" charset="0"/>
                <a:ea typeface="Arial Black" pitchFamily="34" charset="-122"/>
                <a:cs typeface="Arial Black" pitchFamily="34" charset="-120"/>
              </a:rPr>
              <a:t>03</a:t>
            </a:r>
            <a:endParaRPr lang="en-US" sz="3800" dirty="0"/>
          </a:p>
        </p:txBody>
      </p:sp>
      <p:sp>
        <p:nvSpPr>
          <p:cNvPr id="18" name="Text 15"/>
          <p:cNvSpPr/>
          <p:nvPr/>
        </p:nvSpPr>
        <p:spPr>
          <a:xfrm>
            <a:off x="8595360" y="3200400"/>
            <a:ext cx="2926080" cy="320040"/>
          </a:xfrm>
          <a:prstGeom prst="rect">
            <a:avLst/>
          </a:prstGeom>
          <a:noFill/>
          <a:ln/>
        </p:spPr>
        <p:txBody>
          <a:bodyPr wrap="square" lIns="0" tIns="0" rIns="0" bIns="0" rtlCol="0" anchor="ctr"/>
          <a:lstStyle/>
          <a:p>
            <a:pPr marL="0" indent="0">
              <a:buNone/>
            </a:pPr>
            <a:r>
              <a:rPr lang="en-US" sz="1400" b="1" kern="0" spc="200" dirty="0">
                <a:solidFill>
                  <a:srgbClr val="0A0A0A"/>
                </a:solidFill>
                <a:latin typeface="Arial Black" pitchFamily="34" charset="0"/>
                <a:ea typeface="Arial Black" pitchFamily="34" charset="-122"/>
                <a:cs typeface="Arial Black" pitchFamily="34" charset="-120"/>
              </a:rPr>
              <a:t>CREATIVE AGENCIES</a:t>
            </a:r>
            <a:endParaRPr lang="en-US" sz="1400" dirty="0"/>
          </a:p>
        </p:txBody>
      </p:sp>
      <p:sp>
        <p:nvSpPr>
          <p:cNvPr id="19" name="Text 16"/>
          <p:cNvSpPr/>
          <p:nvPr/>
        </p:nvSpPr>
        <p:spPr>
          <a:xfrm>
            <a:off x="8595360" y="3566160"/>
            <a:ext cx="2926080" cy="640080"/>
          </a:xfrm>
          <a:prstGeom prst="rect">
            <a:avLst/>
          </a:prstGeom>
          <a:noFill/>
          <a:ln/>
        </p:spPr>
        <p:txBody>
          <a:bodyPr wrap="square" lIns="0" tIns="0" rIns="0" bIns="0" rtlCol="0" anchor="ctr"/>
          <a:lstStyle/>
          <a:p>
            <a:pPr marL="0" indent="0">
              <a:buNone/>
            </a:pPr>
            <a:r>
              <a:rPr lang="en-US" sz="1300" i="1" dirty="0">
                <a:solidFill>
                  <a:srgbClr val="0A0A0A"/>
                </a:solidFill>
                <a:latin typeface="Arial" pitchFamily="34" charset="0"/>
                <a:ea typeface="Arial" pitchFamily="34" charset="-122"/>
                <a:cs typeface="Arial" pitchFamily="34" charset="-120"/>
              </a:rPr>
              <a:t>For brief intake and concept work.</a:t>
            </a:r>
            <a:endParaRPr lang="en-US" sz="1300" dirty="0"/>
          </a:p>
        </p:txBody>
      </p:sp>
      <p:sp>
        <p:nvSpPr>
          <p:cNvPr id="20" name="Text 17"/>
          <p:cNvSpPr/>
          <p:nvPr/>
        </p:nvSpPr>
        <p:spPr>
          <a:xfrm>
            <a:off x="8595360" y="4389120"/>
            <a:ext cx="2926080" cy="1737360"/>
          </a:xfrm>
          <a:prstGeom prst="rect">
            <a:avLst/>
          </a:prstGeom>
          <a:noFill/>
          <a:ln/>
        </p:spPr>
        <p:txBody>
          <a:bodyPr wrap="square" lIns="0" tIns="0" rIns="0" bIns="0" rtlCol="0" anchor="ctr"/>
          <a:lstStyle/>
          <a:p>
            <a:pPr marL="0" indent="0">
              <a:spcAft>
                <a:spcPts val="600"/>
              </a:spcAft>
              <a:buNone/>
            </a:pPr>
            <a:r>
              <a:rPr lang="en-US" sz="1100" dirty="0">
                <a:solidFill>
                  <a:srgbClr val="0A0A0A"/>
                </a:solidFill>
                <a:latin typeface="Arial" pitchFamily="34" charset="0"/>
                <a:ea typeface="Arial" pitchFamily="34" charset="-122"/>
                <a:cs typeface="Arial" pitchFamily="34" charset="-120"/>
              </a:rPr>
              <a:t>Section 3 (Human Cost), Section 7 (A New Vision for Nigeria) and the tonal cues throughout are your creative territory. Avoid the legalistic register; build from the survivor truth and the African momentum.</a:t>
            </a:r>
            <a:endParaRPr lang="en-US" sz="1100" dirty="0"/>
          </a:p>
        </p:txBody>
      </p:sp>
      <p:sp>
        <p:nvSpPr>
          <p:cNvPr id="21" name="Shape 18"/>
          <p:cNvSpPr/>
          <p:nvPr/>
        </p:nvSpPr>
        <p:spPr>
          <a:xfrm>
            <a:off x="0" y="6629400"/>
            <a:ext cx="12161520" cy="228600"/>
          </a:xfrm>
          <a:prstGeom prst="rect">
            <a:avLst/>
          </a:prstGeom>
          <a:solidFill>
            <a:srgbClr val="49267A"/>
          </a:solidFill>
          <a:ln/>
        </p:spPr>
        <p:txBody>
          <a:bodyPr/>
          <a:lstStyle/>
          <a:p>
            <a:endParaRPr lang="en-US"/>
          </a:p>
        </p:txBody>
      </p:sp>
      <p:sp>
        <p:nvSpPr>
          <p:cNvPr id="22" name="Text 19"/>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3" name="Text 20"/>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2 / 19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2"/>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731520" cy="457200"/>
          </a:xfrm>
          <a:prstGeom prst="rect">
            <a:avLst/>
          </a:prstGeom>
          <a:noFill/>
          <a:ln/>
        </p:spPr>
        <p:txBody>
          <a:bodyPr wrap="square" lIns="0" tIns="0" rIns="0" bIns="0" rtlCol="0" anchor="ctr"/>
          <a:lstStyle/>
          <a:p>
            <a:pPr marL="0" indent="0">
              <a:buNone/>
            </a:pPr>
            <a:r>
              <a:rPr lang="en-US" sz="3600" b="1" dirty="0">
                <a:solidFill>
                  <a:srgbClr val="E62B67"/>
                </a:solidFill>
                <a:latin typeface="Arial Black" pitchFamily="34" charset="0"/>
                <a:ea typeface="Arial Black" pitchFamily="34" charset="-122"/>
                <a:cs typeface="Arial Black" pitchFamily="34" charset="-120"/>
              </a:rPr>
              <a:t>03</a:t>
            </a:r>
            <a:endParaRPr lang="en-US" sz="3600" dirty="0"/>
          </a:p>
        </p:txBody>
      </p:sp>
      <p:sp>
        <p:nvSpPr>
          <p:cNvPr id="4" name="Text 1"/>
          <p:cNvSpPr/>
          <p:nvPr/>
        </p:nvSpPr>
        <p:spPr>
          <a:xfrm>
            <a:off x="137160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CONTENTS</a:t>
            </a:r>
            <a:endParaRPr lang="en-US" sz="1100" dirty="0"/>
          </a:p>
        </p:txBody>
      </p:sp>
      <p:sp>
        <p:nvSpPr>
          <p:cNvPr id="5" name="Text 2"/>
          <p:cNvSpPr/>
          <p:nvPr/>
        </p:nvSpPr>
        <p:spPr>
          <a:xfrm>
            <a:off x="640080" y="1097280"/>
            <a:ext cx="10058400" cy="731520"/>
          </a:xfrm>
          <a:prstGeom prst="rect">
            <a:avLst/>
          </a:prstGeom>
          <a:noFill/>
          <a:ln/>
        </p:spPr>
        <p:txBody>
          <a:bodyPr wrap="square" lIns="0" tIns="0" rIns="0" bIns="0" rtlCol="0" anchor="ctr"/>
          <a:lstStyle/>
          <a:p>
            <a:pPr marL="0" indent="0">
              <a:buNone/>
            </a:pPr>
            <a:r>
              <a:rPr lang="en-US" sz="3200" b="1" kern="0" spc="-50" dirty="0">
                <a:solidFill>
                  <a:srgbClr val="49267A"/>
                </a:solidFill>
                <a:latin typeface="Arial Black" pitchFamily="34" charset="0"/>
                <a:ea typeface="Arial Black" pitchFamily="34" charset="-122"/>
                <a:cs typeface="Arial Black" pitchFamily="34" charset="-120"/>
              </a:rPr>
              <a:t>What's inside this brief.</a:t>
            </a:r>
            <a:endParaRPr lang="en-US" sz="3200" dirty="0"/>
          </a:p>
        </p:txBody>
      </p:sp>
      <p:sp>
        <p:nvSpPr>
          <p:cNvPr id="6" name="Text 3"/>
          <p:cNvSpPr/>
          <p:nvPr/>
        </p:nvSpPr>
        <p:spPr>
          <a:xfrm>
            <a:off x="640080" y="210312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01</a:t>
            </a:r>
            <a:endParaRPr lang="en-US" sz="1800" dirty="0"/>
          </a:p>
        </p:txBody>
      </p:sp>
      <p:sp>
        <p:nvSpPr>
          <p:cNvPr id="7" name="Text 4"/>
          <p:cNvSpPr/>
          <p:nvPr/>
        </p:nvSpPr>
        <p:spPr>
          <a:xfrm>
            <a:off x="1371600" y="210312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A Nation at a Crossroads</a:t>
            </a:r>
            <a:endParaRPr lang="en-US" sz="1400" dirty="0"/>
          </a:p>
        </p:txBody>
      </p:sp>
      <p:sp>
        <p:nvSpPr>
          <p:cNvPr id="8" name="Text 5"/>
          <p:cNvSpPr/>
          <p:nvPr/>
        </p:nvSpPr>
        <p:spPr>
          <a:xfrm>
            <a:off x="6126480" y="210312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The legislative moment Nigeria stands in today.</a:t>
            </a:r>
            <a:endParaRPr lang="en-US" sz="1100" dirty="0"/>
          </a:p>
        </p:txBody>
      </p:sp>
      <p:sp>
        <p:nvSpPr>
          <p:cNvPr id="9" name="Shape 6"/>
          <p:cNvSpPr/>
          <p:nvPr/>
        </p:nvSpPr>
        <p:spPr>
          <a:xfrm>
            <a:off x="640080" y="2587752"/>
            <a:ext cx="10972800" cy="0"/>
          </a:xfrm>
          <a:prstGeom prst="line">
            <a:avLst/>
          </a:prstGeom>
          <a:noFill/>
          <a:ln w="6350">
            <a:solidFill>
              <a:srgbClr val="E5E5E5"/>
            </a:solidFill>
            <a:prstDash val="solid"/>
          </a:ln>
        </p:spPr>
        <p:txBody>
          <a:bodyPr/>
          <a:lstStyle/>
          <a:p>
            <a:endParaRPr lang="en-US"/>
          </a:p>
        </p:txBody>
      </p:sp>
      <p:sp>
        <p:nvSpPr>
          <p:cNvPr id="10" name="Text 7"/>
          <p:cNvSpPr/>
          <p:nvPr/>
        </p:nvSpPr>
        <p:spPr>
          <a:xfrm>
            <a:off x="640080" y="260604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02</a:t>
            </a:r>
            <a:endParaRPr lang="en-US" sz="1800" dirty="0"/>
          </a:p>
        </p:txBody>
      </p:sp>
      <p:sp>
        <p:nvSpPr>
          <p:cNvPr id="11" name="Text 8"/>
          <p:cNvSpPr/>
          <p:nvPr/>
        </p:nvSpPr>
        <p:spPr>
          <a:xfrm>
            <a:off x="1371600" y="260604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Implications of Restrictive Laws</a:t>
            </a:r>
            <a:endParaRPr lang="en-US" sz="1400" dirty="0"/>
          </a:p>
        </p:txBody>
      </p:sp>
      <p:sp>
        <p:nvSpPr>
          <p:cNvPr id="12" name="Text 9"/>
          <p:cNvSpPr/>
          <p:nvPr/>
        </p:nvSpPr>
        <p:spPr>
          <a:xfrm>
            <a:off x="6126480" y="260604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What the current Criminal Code creates — and protects against.</a:t>
            </a:r>
            <a:endParaRPr lang="en-US" sz="1100" dirty="0"/>
          </a:p>
        </p:txBody>
      </p:sp>
      <p:sp>
        <p:nvSpPr>
          <p:cNvPr id="13" name="Shape 10"/>
          <p:cNvSpPr/>
          <p:nvPr/>
        </p:nvSpPr>
        <p:spPr>
          <a:xfrm>
            <a:off x="640080" y="3090672"/>
            <a:ext cx="10972800" cy="0"/>
          </a:xfrm>
          <a:prstGeom prst="line">
            <a:avLst/>
          </a:prstGeom>
          <a:noFill/>
          <a:ln w="6350">
            <a:solidFill>
              <a:srgbClr val="E5E5E5"/>
            </a:solidFill>
            <a:prstDash val="solid"/>
          </a:ln>
        </p:spPr>
        <p:txBody>
          <a:bodyPr/>
          <a:lstStyle/>
          <a:p>
            <a:endParaRPr lang="en-US"/>
          </a:p>
        </p:txBody>
      </p:sp>
      <p:sp>
        <p:nvSpPr>
          <p:cNvPr id="14" name="Text 11"/>
          <p:cNvSpPr/>
          <p:nvPr/>
        </p:nvSpPr>
        <p:spPr>
          <a:xfrm>
            <a:off x="640080" y="310896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03</a:t>
            </a:r>
            <a:endParaRPr lang="en-US" sz="1800" dirty="0"/>
          </a:p>
        </p:txBody>
      </p:sp>
      <p:sp>
        <p:nvSpPr>
          <p:cNvPr id="15" name="Text 12"/>
          <p:cNvSpPr/>
          <p:nvPr/>
        </p:nvSpPr>
        <p:spPr>
          <a:xfrm>
            <a:off x="1371600" y="310896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The Human Cost</a:t>
            </a:r>
            <a:endParaRPr lang="en-US" sz="1400" dirty="0"/>
          </a:p>
        </p:txBody>
      </p:sp>
      <p:sp>
        <p:nvSpPr>
          <p:cNvPr id="16" name="Text 13"/>
          <p:cNvSpPr/>
          <p:nvPr/>
        </p:nvSpPr>
        <p:spPr>
          <a:xfrm>
            <a:off x="6126480" y="310896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Numbers, stories, and the everyday consequences of inaction.</a:t>
            </a:r>
            <a:endParaRPr lang="en-US" sz="1100" dirty="0"/>
          </a:p>
        </p:txBody>
      </p:sp>
      <p:sp>
        <p:nvSpPr>
          <p:cNvPr id="17" name="Shape 14"/>
          <p:cNvSpPr/>
          <p:nvPr/>
        </p:nvSpPr>
        <p:spPr>
          <a:xfrm>
            <a:off x="640080" y="3593592"/>
            <a:ext cx="10972800" cy="0"/>
          </a:xfrm>
          <a:prstGeom prst="line">
            <a:avLst/>
          </a:prstGeom>
          <a:noFill/>
          <a:ln w="6350">
            <a:solidFill>
              <a:srgbClr val="E5E5E5"/>
            </a:solidFill>
            <a:prstDash val="solid"/>
          </a:ln>
        </p:spPr>
        <p:txBody>
          <a:bodyPr/>
          <a:lstStyle/>
          <a:p>
            <a:endParaRPr lang="en-US"/>
          </a:p>
        </p:txBody>
      </p:sp>
      <p:sp>
        <p:nvSpPr>
          <p:cNvPr id="18" name="Text 15"/>
          <p:cNvSpPr/>
          <p:nvPr/>
        </p:nvSpPr>
        <p:spPr>
          <a:xfrm>
            <a:off x="640080" y="361188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04</a:t>
            </a:r>
            <a:endParaRPr lang="en-US" sz="1800" dirty="0"/>
          </a:p>
        </p:txBody>
      </p:sp>
      <p:sp>
        <p:nvSpPr>
          <p:cNvPr id="19" name="Text 16"/>
          <p:cNvSpPr/>
          <p:nvPr/>
        </p:nvSpPr>
        <p:spPr>
          <a:xfrm>
            <a:off x="1371600" y="361188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The World is Moving Forward</a:t>
            </a:r>
            <a:endParaRPr lang="en-US" sz="1400" dirty="0"/>
          </a:p>
        </p:txBody>
      </p:sp>
      <p:sp>
        <p:nvSpPr>
          <p:cNvPr id="20" name="Text 17"/>
          <p:cNvSpPr/>
          <p:nvPr/>
        </p:nvSpPr>
        <p:spPr>
          <a:xfrm>
            <a:off x="6126480" y="361188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African nations already leading the reform conversation.</a:t>
            </a:r>
            <a:endParaRPr lang="en-US" sz="1100" dirty="0"/>
          </a:p>
        </p:txBody>
      </p:sp>
      <p:sp>
        <p:nvSpPr>
          <p:cNvPr id="21" name="Shape 18"/>
          <p:cNvSpPr/>
          <p:nvPr/>
        </p:nvSpPr>
        <p:spPr>
          <a:xfrm>
            <a:off x="640080" y="4096512"/>
            <a:ext cx="10972800" cy="0"/>
          </a:xfrm>
          <a:prstGeom prst="line">
            <a:avLst/>
          </a:prstGeom>
          <a:noFill/>
          <a:ln w="6350">
            <a:solidFill>
              <a:srgbClr val="E5E5E5"/>
            </a:solidFill>
            <a:prstDash val="solid"/>
          </a:ln>
        </p:spPr>
        <p:txBody>
          <a:bodyPr/>
          <a:lstStyle/>
          <a:p>
            <a:endParaRPr lang="en-US"/>
          </a:p>
        </p:txBody>
      </p:sp>
      <p:sp>
        <p:nvSpPr>
          <p:cNvPr id="22" name="Text 19"/>
          <p:cNvSpPr/>
          <p:nvPr/>
        </p:nvSpPr>
        <p:spPr>
          <a:xfrm>
            <a:off x="640080" y="411480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05</a:t>
            </a:r>
            <a:endParaRPr lang="en-US" sz="1800" dirty="0"/>
          </a:p>
        </p:txBody>
      </p:sp>
      <p:sp>
        <p:nvSpPr>
          <p:cNvPr id="23" name="Text 20"/>
          <p:cNvSpPr/>
          <p:nvPr/>
        </p:nvSpPr>
        <p:spPr>
          <a:xfrm>
            <a:off x="1371600" y="411480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Human Rights Obligations</a:t>
            </a:r>
            <a:endParaRPr lang="en-US" sz="1400" dirty="0"/>
          </a:p>
        </p:txBody>
      </p:sp>
      <p:sp>
        <p:nvSpPr>
          <p:cNvPr id="24" name="Text 21"/>
          <p:cNvSpPr/>
          <p:nvPr/>
        </p:nvSpPr>
        <p:spPr>
          <a:xfrm>
            <a:off x="6126480" y="411480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Nigeria's binding commitments — and the legal imperative.</a:t>
            </a:r>
            <a:endParaRPr lang="en-US" sz="1100" dirty="0"/>
          </a:p>
        </p:txBody>
      </p:sp>
      <p:sp>
        <p:nvSpPr>
          <p:cNvPr id="25" name="Shape 22"/>
          <p:cNvSpPr/>
          <p:nvPr/>
        </p:nvSpPr>
        <p:spPr>
          <a:xfrm>
            <a:off x="640080" y="4599432"/>
            <a:ext cx="10972800" cy="0"/>
          </a:xfrm>
          <a:prstGeom prst="line">
            <a:avLst/>
          </a:prstGeom>
          <a:noFill/>
          <a:ln w="6350">
            <a:solidFill>
              <a:srgbClr val="E5E5E5"/>
            </a:solidFill>
            <a:prstDash val="solid"/>
          </a:ln>
        </p:spPr>
        <p:txBody>
          <a:bodyPr/>
          <a:lstStyle/>
          <a:p>
            <a:endParaRPr lang="en-US"/>
          </a:p>
        </p:txBody>
      </p:sp>
      <p:sp>
        <p:nvSpPr>
          <p:cNvPr id="26" name="Text 23"/>
          <p:cNvSpPr/>
          <p:nvPr/>
        </p:nvSpPr>
        <p:spPr>
          <a:xfrm>
            <a:off x="640080" y="461772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06</a:t>
            </a:r>
            <a:endParaRPr lang="en-US" sz="1800" dirty="0"/>
          </a:p>
        </p:txBody>
      </p:sp>
      <p:sp>
        <p:nvSpPr>
          <p:cNvPr id="27" name="Text 24"/>
          <p:cNvSpPr/>
          <p:nvPr/>
        </p:nvSpPr>
        <p:spPr>
          <a:xfrm>
            <a:off x="1371600" y="461772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Aligning Law with Nigeria's Priorities</a:t>
            </a:r>
            <a:endParaRPr lang="en-US" sz="1400" dirty="0"/>
          </a:p>
        </p:txBody>
      </p:sp>
      <p:sp>
        <p:nvSpPr>
          <p:cNvPr id="28" name="Text 25"/>
          <p:cNvSpPr/>
          <p:nvPr/>
        </p:nvSpPr>
        <p:spPr>
          <a:xfrm>
            <a:off x="6126480" y="461772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Where the Criminal Code contradicts national policy.</a:t>
            </a:r>
            <a:endParaRPr lang="en-US" sz="1100" dirty="0"/>
          </a:p>
        </p:txBody>
      </p:sp>
      <p:sp>
        <p:nvSpPr>
          <p:cNvPr id="29" name="Shape 26"/>
          <p:cNvSpPr/>
          <p:nvPr/>
        </p:nvSpPr>
        <p:spPr>
          <a:xfrm>
            <a:off x="640080" y="5102352"/>
            <a:ext cx="10972800" cy="0"/>
          </a:xfrm>
          <a:prstGeom prst="line">
            <a:avLst/>
          </a:prstGeom>
          <a:noFill/>
          <a:ln w="6350">
            <a:solidFill>
              <a:srgbClr val="E5E5E5"/>
            </a:solidFill>
            <a:prstDash val="solid"/>
          </a:ln>
        </p:spPr>
        <p:txBody>
          <a:bodyPr/>
          <a:lstStyle/>
          <a:p>
            <a:endParaRPr lang="en-US"/>
          </a:p>
        </p:txBody>
      </p:sp>
      <p:sp>
        <p:nvSpPr>
          <p:cNvPr id="30" name="Text 27"/>
          <p:cNvSpPr/>
          <p:nvPr/>
        </p:nvSpPr>
        <p:spPr>
          <a:xfrm>
            <a:off x="640080" y="512064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07</a:t>
            </a:r>
            <a:endParaRPr lang="en-US" sz="1800" dirty="0"/>
          </a:p>
        </p:txBody>
      </p:sp>
      <p:sp>
        <p:nvSpPr>
          <p:cNvPr id="31" name="Text 28"/>
          <p:cNvSpPr/>
          <p:nvPr/>
        </p:nvSpPr>
        <p:spPr>
          <a:xfrm>
            <a:off x="1371600" y="512064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A Rights-Based Path Forward</a:t>
            </a:r>
            <a:endParaRPr lang="en-US" sz="1400" dirty="0"/>
          </a:p>
        </p:txBody>
      </p:sp>
      <p:sp>
        <p:nvSpPr>
          <p:cNvPr id="32" name="Text 29"/>
          <p:cNvSpPr/>
          <p:nvPr/>
        </p:nvSpPr>
        <p:spPr>
          <a:xfrm>
            <a:off x="6126480" y="512064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What legislators can do, and the new vision for Nigeria.</a:t>
            </a:r>
            <a:endParaRPr lang="en-US" sz="1100" dirty="0"/>
          </a:p>
        </p:txBody>
      </p:sp>
      <p:sp>
        <p:nvSpPr>
          <p:cNvPr id="33" name="Shape 30"/>
          <p:cNvSpPr/>
          <p:nvPr/>
        </p:nvSpPr>
        <p:spPr>
          <a:xfrm>
            <a:off x="640080" y="5605272"/>
            <a:ext cx="10972800" cy="0"/>
          </a:xfrm>
          <a:prstGeom prst="line">
            <a:avLst/>
          </a:prstGeom>
          <a:noFill/>
          <a:ln w="6350">
            <a:solidFill>
              <a:srgbClr val="E5E5E5"/>
            </a:solidFill>
            <a:prstDash val="solid"/>
          </a:ln>
        </p:spPr>
        <p:txBody>
          <a:bodyPr/>
          <a:lstStyle/>
          <a:p>
            <a:endParaRPr lang="en-US"/>
          </a:p>
        </p:txBody>
      </p:sp>
      <p:sp>
        <p:nvSpPr>
          <p:cNvPr id="34" name="Text 31"/>
          <p:cNvSpPr/>
          <p:nvPr/>
        </p:nvSpPr>
        <p:spPr>
          <a:xfrm>
            <a:off x="640080" y="5623560"/>
            <a:ext cx="640080" cy="502920"/>
          </a:xfrm>
          <a:prstGeom prst="rect">
            <a:avLst/>
          </a:prstGeom>
          <a:noFill/>
          <a:ln/>
        </p:spPr>
        <p:txBody>
          <a:bodyPr wrap="square" lIns="0" tIns="0" rIns="0" bIns="0" rtlCol="0" anchor="ctr"/>
          <a:lstStyle/>
          <a:p>
            <a:pPr marL="0" indent="0">
              <a:buNone/>
            </a:pPr>
            <a:r>
              <a:rPr lang="en-US" sz="1800" b="1" dirty="0">
                <a:solidFill>
                  <a:srgbClr val="E62B67"/>
                </a:solidFill>
                <a:latin typeface="Arial Black" pitchFamily="34" charset="0"/>
                <a:ea typeface="Arial Black" pitchFamily="34" charset="-122"/>
                <a:cs typeface="Arial Black" pitchFamily="34" charset="-120"/>
              </a:rPr>
              <a:t>08</a:t>
            </a:r>
            <a:endParaRPr lang="en-US" sz="1800" dirty="0"/>
          </a:p>
        </p:txBody>
      </p:sp>
      <p:sp>
        <p:nvSpPr>
          <p:cNvPr id="35" name="Text 32"/>
          <p:cNvSpPr/>
          <p:nvPr/>
        </p:nvSpPr>
        <p:spPr>
          <a:xfrm>
            <a:off x="1371600" y="5623560"/>
            <a:ext cx="4572000" cy="502920"/>
          </a:xfrm>
          <a:prstGeom prst="rect">
            <a:avLst/>
          </a:prstGeom>
          <a:noFill/>
          <a:ln/>
        </p:spPr>
        <p:txBody>
          <a:bodyPr wrap="square" lIns="0" tIns="0" rIns="0" bIns="0" rtlCol="0" anchor="ctr"/>
          <a:lstStyle/>
          <a:p>
            <a:pPr marL="0" indent="0">
              <a:buNone/>
            </a:pPr>
            <a:r>
              <a:rPr lang="en-US" sz="1400" b="1" dirty="0">
                <a:solidFill>
                  <a:srgbClr val="49267A"/>
                </a:solidFill>
                <a:latin typeface="Arial Black" pitchFamily="34" charset="0"/>
                <a:ea typeface="Arial Black" pitchFamily="34" charset="-122"/>
                <a:cs typeface="Arial Black" pitchFamily="34" charset="-120"/>
              </a:rPr>
              <a:t>Conclusion: Legislators Hold the Pen</a:t>
            </a:r>
            <a:endParaRPr lang="en-US" sz="1400" dirty="0"/>
          </a:p>
        </p:txBody>
      </p:sp>
      <p:sp>
        <p:nvSpPr>
          <p:cNvPr id="36" name="Text 33"/>
          <p:cNvSpPr/>
          <p:nvPr/>
        </p:nvSpPr>
        <p:spPr>
          <a:xfrm>
            <a:off x="6126480" y="5623560"/>
            <a:ext cx="5486400" cy="502920"/>
          </a:xfrm>
          <a:prstGeom prst="rect">
            <a:avLst/>
          </a:prstGeom>
          <a:noFill/>
          <a:ln/>
        </p:spPr>
        <p:txBody>
          <a:bodyPr wrap="square" lIns="0" tIns="0" rIns="0" bIns="0" rtlCol="0" anchor="ctr"/>
          <a:lstStyle/>
          <a:p>
            <a:pPr marL="0" indent="0">
              <a:buNone/>
            </a:pPr>
            <a:r>
              <a:rPr lang="en-US" sz="1100" i="1" dirty="0">
                <a:solidFill>
                  <a:srgbClr val="3A3A3A"/>
                </a:solidFill>
                <a:latin typeface="Arial" pitchFamily="34" charset="0"/>
                <a:ea typeface="Arial" pitchFamily="34" charset="-122"/>
                <a:cs typeface="Arial" pitchFamily="34" charset="-120"/>
              </a:rPr>
              <a:t>The decisive moment, and what we ask of it.</a:t>
            </a:r>
            <a:endParaRPr lang="en-US" sz="1100" dirty="0"/>
          </a:p>
        </p:txBody>
      </p:sp>
      <p:sp>
        <p:nvSpPr>
          <p:cNvPr id="37" name="Shape 34"/>
          <p:cNvSpPr/>
          <p:nvPr/>
        </p:nvSpPr>
        <p:spPr>
          <a:xfrm>
            <a:off x="640080" y="6108192"/>
            <a:ext cx="10972800" cy="0"/>
          </a:xfrm>
          <a:prstGeom prst="line">
            <a:avLst/>
          </a:prstGeom>
          <a:noFill/>
          <a:ln w="6350">
            <a:solidFill>
              <a:srgbClr val="E5E5E5"/>
            </a:solidFill>
            <a:prstDash val="solid"/>
          </a:ln>
        </p:spPr>
        <p:txBody>
          <a:bodyPr/>
          <a:lstStyle/>
          <a:p>
            <a:endParaRPr lang="en-US"/>
          </a:p>
        </p:txBody>
      </p:sp>
      <p:sp>
        <p:nvSpPr>
          <p:cNvPr id="38" name="Shape 35"/>
          <p:cNvSpPr/>
          <p:nvPr/>
        </p:nvSpPr>
        <p:spPr>
          <a:xfrm>
            <a:off x="0" y="6629400"/>
            <a:ext cx="12161520" cy="228600"/>
          </a:xfrm>
          <a:prstGeom prst="rect">
            <a:avLst/>
          </a:prstGeom>
          <a:solidFill>
            <a:srgbClr val="49267A"/>
          </a:solidFill>
          <a:ln/>
        </p:spPr>
        <p:txBody>
          <a:bodyPr/>
          <a:lstStyle/>
          <a:p>
            <a:endParaRPr lang="en-US"/>
          </a:p>
        </p:txBody>
      </p:sp>
      <p:sp>
        <p:nvSpPr>
          <p:cNvPr id="39" name="Text 36"/>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40" name="Text 37"/>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3 / 19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9267A"/>
        </a:solidFill>
        <a:effectLst/>
      </p:bgPr>
    </p:bg>
    <p:spTree>
      <p:nvGrpSpPr>
        <p:cNvPr id="1" name=""/>
        <p:cNvGrpSpPr/>
        <p:nvPr/>
      </p:nvGrpSpPr>
      <p:grpSpPr>
        <a:xfrm>
          <a:off x="0" y="0"/>
          <a:ext cx="0" cy="0"/>
          <a:chOff x="0" y="0"/>
          <a:chExt cx="0" cy="0"/>
        </a:xfrm>
      </p:grpSpPr>
      <p:pic>
        <p:nvPicPr>
          <p:cNvPr id="2" name="Image 0" descr="/home/claude/work/pamoja_logo_white.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457200" y="4114800"/>
            <a:ext cx="3657600" cy="3657600"/>
          </a:xfrm>
          <a:prstGeom prst="rect">
            <a:avLst/>
          </a:prstGeom>
          <a:noFill/>
          <a:ln/>
        </p:spPr>
        <p:txBody>
          <a:bodyPr wrap="square" lIns="0" tIns="0" rIns="0" bIns="0" rtlCol="0" anchor="ctr"/>
          <a:lstStyle/>
          <a:p>
            <a:pPr marL="0" indent="0">
              <a:buNone/>
            </a:pPr>
            <a:r>
              <a:rPr lang="en-US" sz="32000" dirty="0">
                <a:solidFill>
                  <a:srgbClr val="F8C501">
                    <a:alpha val="30000"/>
                  </a:srgbClr>
                </a:solidFill>
                <a:latin typeface="Arial" pitchFamily="34" charset="0"/>
                <a:ea typeface="Arial" pitchFamily="34" charset="-122"/>
                <a:cs typeface="Arial" pitchFamily="34" charset="-120"/>
              </a:rPr>
              <a:t>✦</a:t>
            </a:r>
            <a:endParaRPr lang="en-US" sz="32000" dirty="0"/>
          </a:p>
        </p:txBody>
      </p:sp>
      <p:sp>
        <p:nvSpPr>
          <p:cNvPr id="4" name="Text 1"/>
          <p:cNvSpPr/>
          <p:nvPr/>
        </p:nvSpPr>
        <p:spPr>
          <a:xfrm>
            <a:off x="640080" y="2286000"/>
            <a:ext cx="4572000" cy="365760"/>
          </a:xfrm>
          <a:prstGeom prst="rect">
            <a:avLst/>
          </a:prstGeom>
          <a:noFill/>
          <a:ln/>
        </p:spPr>
        <p:txBody>
          <a:bodyPr wrap="square" lIns="0" tIns="0" rIns="0" bIns="0" rtlCol="0" anchor="ctr"/>
          <a:lstStyle/>
          <a:p>
            <a:pPr marL="0" indent="0">
              <a:buNone/>
            </a:pPr>
            <a:r>
              <a:rPr lang="en-US" sz="1200" b="1" kern="0" spc="600" dirty="0">
                <a:solidFill>
                  <a:srgbClr val="F8C501"/>
                </a:solidFill>
                <a:latin typeface="Arial" pitchFamily="34" charset="0"/>
                <a:ea typeface="Arial" pitchFamily="34" charset="-122"/>
                <a:cs typeface="Arial" pitchFamily="34" charset="-120"/>
              </a:rPr>
              <a:t>PART 01</a:t>
            </a:r>
            <a:endParaRPr lang="en-US" sz="1200" dirty="0"/>
          </a:p>
        </p:txBody>
      </p:sp>
      <p:sp>
        <p:nvSpPr>
          <p:cNvPr id="5" name="Text 2"/>
          <p:cNvSpPr/>
          <p:nvPr/>
        </p:nvSpPr>
        <p:spPr>
          <a:xfrm>
            <a:off x="640080" y="2743200"/>
            <a:ext cx="10058400" cy="2011680"/>
          </a:xfrm>
          <a:prstGeom prst="rect">
            <a:avLst/>
          </a:prstGeom>
          <a:noFill/>
          <a:ln/>
        </p:spPr>
        <p:txBody>
          <a:bodyPr wrap="square" lIns="0" tIns="0" rIns="0" bIns="0" rtlCol="0" anchor="ctr"/>
          <a:lstStyle/>
          <a:p>
            <a:pPr marL="0" indent="0">
              <a:buNone/>
            </a:pPr>
            <a:r>
              <a:rPr lang="en-US" sz="6400" b="1" kern="0" spc="-150" dirty="0">
                <a:solidFill>
                  <a:srgbClr val="FFFFFF"/>
                </a:solidFill>
                <a:latin typeface="Arial Black" pitchFamily="34" charset="0"/>
                <a:ea typeface="Arial Black" pitchFamily="34" charset="-122"/>
                <a:cs typeface="Arial Black" pitchFamily="34" charset="-120"/>
              </a:rPr>
              <a:t>A Nation at a</a:t>
            </a:r>
            <a:endParaRPr lang="en-US" sz="6400" dirty="0"/>
          </a:p>
          <a:p>
            <a:pPr marL="0" indent="0">
              <a:buNone/>
            </a:pPr>
            <a:r>
              <a:rPr lang="en-US" sz="6400" b="1" kern="0" spc="-150" dirty="0">
                <a:solidFill>
                  <a:srgbClr val="FFFFFF"/>
                </a:solidFill>
                <a:latin typeface="Arial Black" pitchFamily="34" charset="0"/>
                <a:ea typeface="Arial Black" pitchFamily="34" charset="-122"/>
                <a:cs typeface="Arial Black" pitchFamily="34" charset="-120"/>
              </a:rPr>
              <a:t>Crossroads</a:t>
            </a:r>
            <a:endParaRPr lang="en-US" sz="6400" dirty="0"/>
          </a:p>
        </p:txBody>
      </p:sp>
      <p:sp>
        <p:nvSpPr>
          <p:cNvPr id="6" name="Shape 3"/>
          <p:cNvSpPr/>
          <p:nvPr/>
        </p:nvSpPr>
        <p:spPr>
          <a:xfrm>
            <a:off x="640080" y="4937760"/>
            <a:ext cx="1097280" cy="0"/>
          </a:xfrm>
          <a:prstGeom prst="line">
            <a:avLst/>
          </a:prstGeom>
          <a:noFill/>
          <a:ln w="50800">
            <a:solidFill>
              <a:srgbClr val="E62B67"/>
            </a:solidFill>
            <a:prstDash val="solid"/>
          </a:ln>
        </p:spPr>
        <p:txBody>
          <a:bodyPr/>
          <a:lstStyle/>
          <a:p>
            <a:endParaRPr lang="en-US"/>
          </a:p>
        </p:txBody>
      </p:sp>
      <p:sp>
        <p:nvSpPr>
          <p:cNvPr id="7" name="Text 4"/>
          <p:cNvSpPr/>
          <p:nvPr/>
        </p:nvSpPr>
        <p:spPr>
          <a:xfrm>
            <a:off x="640080" y="5212080"/>
            <a:ext cx="7772400" cy="1097280"/>
          </a:xfrm>
          <a:prstGeom prst="rect">
            <a:avLst/>
          </a:prstGeom>
          <a:noFill/>
          <a:ln/>
        </p:spPr>
        <p:txBody>
          <a:bodyPr wrap="square" lIns="0" tIns="0" rIns="0" bIns="0" rtlCol="0" anchor="ctr"/>
          <a:lstStyle/>
          <a:p>
            <a:pPr marL="0" indent="0">
              <a:buNone/>
            </a:pPr>
            <a:r>
              <a:rPr lang="en-US" sz="1600" i="1" dirty="0">
                <a:solidFill>
                  <a:srgbClr val="FFFFFF"/>
                </a:solidFill>
                <a:latin typeface="Arial" pitchFamily="34" charset="0"/>
                <a:ea typeface="Arial" pitchFamily="34" charset="-122"/>
                <a:cs typeface="Arial" pitchFamily="34" charset="-120"/>
              </a:rPr>
              <a:t>Recent debates in the National Assembly signal a long-overdue national reckoning. The legal framework forces women into secrecy, unsafe procedures, and the hands of unqualified providers.</a:t>
            </a:r>
            <a:endParaRPr lang="en-US" sz="1600" dirty="0"/>
          </a:p>
        </p:txBody>
      </p:sp>
      <p:sp>
        <p:nvSpPr>
          <p:cNvPr id="8" name="Shape 5"/>
          <p:cNvSpPr/>
          <p:nvPr/>
        </p:nvSpPr>
        <p:spPr>
          <a:xfrm>
            <a:off x="0" y="6629400"/>
            <a:ext cx="12161520" cy="228600"/>
          </a:xfrm>
          <a:prstGeom prst="rect">
            <a:avLst/>
          </a:prstGeom>
          <a:solidFill>
            <a:srgbClr val="49267A"/>
          </a:solidFill>
          <a:ln/>
        </p:spPr>
        <p:txBody>
          <a:bodyPr/>
          <a:lstStyle/>
          <a:p>
            <a:endParaRPr lang="en-US"/>
          </a:p>
        </p:txBody>
      </p:sp>
      <p:sp>
        <p:nvSpPr>
          <p:cNvPr id="9" name="Text 6"/>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10" name="Text 7"/>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4 / 19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01.1</a:t>
            </a:r>
            <a:endParaRPr lang="en-US" sz="2400" dirty="0"/>
          </a:p>
        </p:txBody>
      </p:sp>
      <p:sp>
        <p:nvSpPr>
          <p:cNvPr id="4" name="Text 1"/>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THE LEGISLATIVE MOMENT</a:t>
            </a:r>
            <a:endParaRPr lang="en-US" sz="1100" dirty="0"/>
          </a:p>
        </p:txBody>
      </p:sp>
      <p:sp>
        <p:nvSpPr>
          <p:cNvPr id="5" name="Text 2"/>
          <p:cNvSpPr/>
          <p:nvPr/>
        </p:nvSpPr>
        <p:spPr>
          <a:xfrm>
            <a:off x="640080" y="1097280"/>
            <a:ext cx="10972800" cy="1097280"/>
          </a:xfrm>
          <a:prstGeom prst="rect">
            <a:avLst/>
          </a:prstGeom>
          <a:noFill/>
          <a:ln/>
        </p:spPr>
        <p:txBody>
          <a:bodyPr wrap="square" lIns="0" tIns="0" rIns="0" bIns="0" rtlCol="0" anchor="ctr"/>
          <a:lstStyle/>
          <a:p>
            <a:pPr marL="0" indent="0">
              <a:buNone/>
            </a:pPr>
            <a:r>
              <a:rPr lang="en-US" sz="3000" b="1" kern="0" spc="-50" dirty="0">
                <a:solidFill>
                  <a:srgbClr val="49267A"/>
                </a:solidFill>
                <a:latin typeface="Arial Black" pitchFamily="34" charset="0"/>
                <a:ea typeface="Arial Black" pitchFamily="34" charset="-122"/>
                <a:cs typeface="Arial Black" pitchFamily="34" charset="-120"/>
              </a:rPr>
              <a:t>Nigeria stands at a defining moment in its legislative history.</a:t>
            </a:r>
            <a:endParaRPr lang="en-US" sz="3000" dirty="0"/>
          </a:p>
        </p:txBody>
      </p:sp>
      <p:sp>
        <p:nvSpPr>
          <p:cNvPr id="6" name="Text 3"/>
          <p:cNvSpPr/>
          <p:nvPr/>
        </p:nvSpPr>
        <p:spPr>
          <a:xfrm>
            <a:off x="640080" y="2468880"/>
            <a:ext cx="5303520" cy="3657600"/>
          </a:xfrm>
          <a:prstGeom prst="rect">
            <a:avLst/>
          </a:prstGeom>
          <a:noFill/>
          <a:ln/>
        </p:spPr>
        <p:txBody>
          <a:bodyPr wrap="square" lIns="0" tIns="0" rIns="0" bIns="0" rtlCol="0" anchor="ctr"/>
          <a:lstStyle/>
          <a:p>
            <a:pPr marL="0" indent="0">
              <a:spcAft>
                <a:spcPts val="800"/>
              </a:spcAft>
              <a:buNone/>
            </a:pPr>
            <a:r>
              <a:rPr lang="en-US" sz="1300" dirty="0">
                <a:solidFill>
                  <a:srgbClr val="3A3A3A"/>
                </a:solidFill>
                <a:latin typeface="Arial" pitchFamily="34" charset="0"/>
                <a:ea typeface="Arial" pitchFamily="34" charset="-122"/>
                <a:cs typeface="Arial" pitchFamily="34" charset="-120"/>
              </a:rPr>
              <a:t>Recent debates concerning amendments to the Criminal Code — particularly the now-suspended Senate clause proposing increased penalties for abortion — signal a long-overdue national reckoning with a reality that can no longer be ignored.</a:t>
            </a:r>
            <a:endParaRPr lang="en-US" sz="1300" dirty="0"/>
          </a:p>
          <a:p>
            <a:pPr marL="0" indent="0">
              <a:spcAft>
                <a:spcPts val="800"/>
              </a:spcAft>
              <a:buNone/>
            </a:pPr>
            <a:endParaRPr lang="en-US" sz="1300" dirty="0"/>
          </a:p>
          <a:p>
            <a:pPr marL="0" indent="0">
              <a:spcAft>
                <a:spcPts val="800"/>
              </a:spcAft>
              <a:buNone/>
            </a:pPr>
            <a:r>
              <a:rPr lang="en-US" sz="1300" dirty="0">
                <a:solidFill>
                  <a:srgbClr val="3A3A3A"/>
                </a:solidFill>
                <a:latin typeface="Arial" pitchFamily="34" charset="0"/>
                <a:ea typeface="Arial" pitchFamily="34" charset="-122"/>
                <a:cs typeface="Arial" pitchFamily="34" charset="-120"/>
              </a:rPr>
              <a:t>Millions of Nigerian women and girls grapple every year with unwanted pregnancies, sexual violence, and the crushing weight of socio-economic hardship. Yet the law offers them no humane, modern, or effective pathway to care.</a:t>
            </a:r>
            <a:endParaRPr lang="en-US" sz="1300" dirty="0"/>
          </a:p>
        </p:txBody>
      </p:sp>
      <p:sp>
        <p:nvSpPr>
          <p:cNvPr id="7" name="Shape 4"/>
          <p:cNvSpPr/>
          <p:nvPr/>
        </p:nvSpPr>
        <p:spPr>
          <a:xfrm>
            <a:off x="6400800" y="2468880"/>
            <a:ext cx="5120640" cy="3840480"/>
          </a:xfrm>
          <a:prstGeom prst="rect">
            <a:avLst/>
          </a:prstGeom>
          <a:solidFill>
            <a:srgbClr val="49267A"/>
          </a:solidFill>
          <a:ln/>
        </p:spPr>
        <p:txBody>
          <a:bodyPr/>
          <a:lstStyle/>
          <a:p>
            <a:endParaRPr lang="en-US"/>
          </a:p>
        </p:txBody>
      </p:sp>
      <p:sp>
        <p:nvSpPr>
          <p:cNvPr id="8" name="Shape 5"/>
          <p:cNvSpPr/>
          <p:nvPr/>
        </p:nvSpPr>
        <p:spPr>
          <a:xfrm>
            <a:off x="6400800" y="2468880"/>
            <a:ext cx="109728" cy="3840480"/>
          </a:xfrm>
          <a:prstGeom prst="rect">
            <a:avLst/>
          </a:prstGeom>
          <a:solidFill>
            <a:srgbClr val="F8C501"/>
          </a:solidFill>
          <a:ln/>
        </p:spPr>
        <p:txBody>
          <a:bodyPr/>
          <a:lstStyle/>
          <a:p>
            <a:endParaRPr lang="en-US"/>
          </a:p>
        </p:txBody>
      </p:sp>
      <p:sp>
        <p:nvSpPr>
          <p:cNvPr id="9" name="Text 6"/>
          <p:cNvSpPr/>
          <p:nvPr/>
        </p:nvSpPr>
        <p:spPr>
          <a:xfrm>
            <a:off x="6675120" y="2468880"/>
            <a:ext cx="914400" cy="1097280"/>
          </a:xfrm>
          <a:prstGeom prst="rect">
            <a:avLst/>
          </a:prstGeom>
          <a:noFill/>
          <a:ln/>
        </p:spPr>
        <p:txBody>
          <a:bodyPr wrap="square" lIns="0" tIns="0" rIns="0" bIns="0" rtlCol="0" anchor="t"/>
          <a:lstStyle/>
          <a:p>
            <a:pPr marL="0" indent="0">
              <a:buNone/>
            </a:pPr>
            <a:r>
              <a:rPr lang="en-US" sz="11000" b="1" dirty="0">
                <a:solidFill>
                  <a:srgbClr val="F8C501"/>
                </a:solidFill>
                <a:latin typeface="Georgia" pitchFamily="34" charset="0"/>
                <a:ea typeface="Georgia" pitchFamily="34" charset="-122"/>
                <a:cs typeface="Georgia" pitchFamily="34" charset="-120"/>
              </a:rPr>
              <a:t>“</a:t>
            </a:r>
            <a:endParaRPr lang="en-US" sz="11000" dirty="0"/>
          </a:p>
        </p:txBody>
      </p:sp>
      <p:sp>
        <p:nvSpPr>
          <p:cNvPr id="10" name="Text 7"/>
          <p:cNvSpPr/>
          <p:nvPr/>
        </p:nvSpPr>
        <p:spPr>
          <a:xfrm>
            <a:off x="6766560" y="3200400"/>
            <a:ext cx="4572000" cy="2103120"/>
          </a:xfrm>
          <a:prstGeom prst="rect">
            <a:avLst/>
          </a:prstGeom>
          <a:noFill/>
          <a:ln/>
        </p:spPr>
        <p:txBody>
          <a:bodyPr wrap="square" lIns="0" tIns="0" rIns="0" bIns="0" rtlCol="0" anchor="ctr"/>
          <a:lstStyle/>
          <a:p>
            <a:pPr marL="0" indent="0">
              <a:buNone/>
            </a:pPr>
            <a:r>
              <a:rPr lang="en-US" sz="1600" i="1" dirty="0">
                <a:solidFill>
                  <a:srgbClr val="FFFFFF"/>
                </a:solidFill>
                <a:latin typeface="Arial" pitchFamily="34" charset="0"/>
                <a:ea typeface="Arial" pitchFamily="34" charset="-122"/>
                <a:cs typeface="Arial" pitchFamily="34" charset="-120"/>
              </a:rPr>
              <a:t>Sections 228, 229 and 230 of the Criminal Code — provisions inherited from colonial statutes written over a century ago — force women into secrecy, unsafe procedures, and the hands of unqualified providers.</a:t>
            </a:r>
            <a:endParaRPr lang="en-US" sz="1600" dirty="0"/>
          </a:p>
        </p:txBody>
      </p:sp>
      <p:sp>
        <p:nvSpPr>
          <p:cNvPr id="11" name="Text 8"/>
          <p:cNvSpPr/>
          <p:nvPr/>
        </p:nvSpPr>
        <p:spPr>
          <a:xfrm>
            <a:off x="6766560" y="5669280"/>
            <a:ext cx="4572000" cy="274320"/>
          </a:xfrm>
          <a:prstGeom prst="rect">
            <a:avLst/>
          </a:prstGeom>
          <a:noFill/>
          <a:ln/>
        </p:spPr>
        <p:txBody>
          <a:bodyPr wrap="square" lIns="0" tIns="0" rIns="0" bIns="0" rtlCol="0" anchor="ctr"/>
          <a:lstStyle/>
          <a:p>
            <a:pPr marL="0" indent="0">
              <a:buNone/>
            </a:pPr>
            <a:r>
              <a:rPr lang="en-US" sz="900" b="1" kern="0" spc="300" dirty="0">
                <a:solidFill>
                  <a:srgbClr val="F8C501"/>
                </a:solidFill>
                <a:latin typeface="Arial" pitchFamily="34" charset="0"/>
                <a:ea typeface="Arial" pitchFamily="34" charset="-122"/>
                <a:cs typeface="Arial" pitchFamily="34" charset="-120"/>
              </a:rPr>
              <a:t>THE CURRENT FRAMEWORK</a:t>
            </a:r>
            <a:endParaRPr lang="en-US" sz="900" dirty="0"/>
          </a:p>
        </p:txBody>
      </p:sp>
      <p:sp>
        <p:nvSpPr>
          <p:cNvPr id="12" name="Shape 9"/>
          <p:cNvSpPr/>
          <p:nvPr/>
        </p:nvSpPr>
        <p:spPr>
          <a:xfrm>
            <a:off x="0" y="6629400"/>
            <a:ext cx="12161520" cy="228600"/>
          </a:xfrm>
          <a:prstGeom prst="rect">
            <a:avLst/>
          </a:prstGeom>
          <a:solidFill>
            <a:srgbClr val="49267A"/>
          </a:solidFill>
          <a:ln/>
        </p:spPr>
        <p:txBody>
          <a:bodyPr/>
          <a:lstStyle/>
          <a:p>
            <a:endParaRPr lang="en-US"/>
          </a:p>
        </p:txBody>
      </p:sp>
      <p:sp>
        <p:nvSpPr>
          <p:cNvPr id="13" name="Text 10"/>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14" name="Text 11"/>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5 / 19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01.2</a:t>
            </a:r>
            <a:endParaRPr lang="en-US" sz="2400" dirty="0"/>
          </a:p>
        </p:txBody>
      </p:sp>
      <p:sp>
        <p:nvSpPr>
          <p:cNvPr id="4" name="Text 1"/>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THE JUDICIAL SHIFT</a:t>
            </a:r>
            <a:endParaRPr lang="en-US" sz="1100" dirty="0"/>
          </a:p>
        </p:txBody>
      </p:sp>
      <p:sp>
        <p:nvSpPr>
          <p:cNvPr id="5" name="Text 2"/>
          <p:cNvSpPr/>
          <p:nvPr/>
        </p:nvSpPr>
        <p:spPr>
          <a:xfrm>
            <a:off x="640080" y="1097280"/>
            <a:ext cx="10972800" cy="1371600"/>
          </a:xfrm>
          <a:prstGeom prst="rect">
            <a:avLst/>
          </a:prstGeom>
          <a:noFill/>
          <a:ln/>
        </p:spPr>
        <p:txBody>
          <a:bodyPr wrap="square" lIns="0" tIns="0" rIns="0" bIns="0" rtlCol="0" anchor="ctr"/>
          <a:lstStyle/>
          <a:p>
            <a:pPr marL="0" indent="0">
              <a:buNone/>
            </a:pPr>
            <a:r>
              <a:rPr lang="en-US" sz="2800" b="1" kern="0" spc="-50" dirty="0">
                <a:solidFill>
                  <a:srgbClr val="49267A"/>
                </a:solidFill>
                <a:latin typeface="Arial Black" pitchFamily="34" charset="0"/>
                <a:ea typeface="Arial Black" pitchFamily="34" charset="-122"/>
                <a:cs typeface="Arial Black" pitchFamily="34" charset="-120"/>
              </a:rPr>
              <a:t>The courts have already moved.</a:t>
            </a:r>
            <a:endParaRPr lang="en-US" sz="2800" dirty="0"/>
          </a:p>
          <a:p>
            <a:pPr marL="0" indent="0">
              <a:buNone/>
            </a:pPr>
            <a:r>
              <a:rPr lang="en-US" sz="2800" b="1" kern="0" spc="-50" dirty="0">
                <a:solidFill>
                  <a:srgbClr val="49267A"/>
                </a:solidFill>
                <a:latin typeface="Arial Black" pitchFamily="34" charset="0"/>
                <a:ea typeface="Arial Black" pitchFamily="34" charset="-122"/>
                <a:cs typeface="Arial Black" pitchFamily="34" charset="-120"/>
              </a:rPr>
              <a:t>The legislature must now follow.</a:t>
            </a:r>
            <a:endParaRPr lang="en-US" sz="2800" dirty="0"/>
          </a:p>
        </p:txBody>
      </p:sp>
      <p:sp>
        <p:nvSpPr>
          <p:cNvPr id="6" name="Shape 3"/>
          <p:cNvSpPr/>
          <p:nvPr/>
        </p:nvSpPr>
        <p:spPr>
          <a:xfrm>
            <a:off x="640080" y="2834640"/>
            <a:ext cx="10972800" cy="1280160"/>
          </a:xfrm>
          <a:prstGeom prst="rect">
            <a:avLst/>
          </a:prstGeom>
          <a:solidFill>
            <a:srgbClr val="FBF7F2"/>
          </a:solidFill>
          <a:ln/>
        </p:spPr>
        <p:txBody>
          <a:bodyPr/>
          <a:lstStyle/>
          <a:p>
            <a:endParaRPr lang="en-US"/>
          </a:p>
        </p:txBody>
      </p:sp>
      <p:sp>
        <p:nvSpPr>
          <p:cNvPr id="7" name="Shape 4"/>
          <p:cNvSpPr/>
          <p:nvPr/>
        </p:nvSpPr>
        <p:spPr>
          <a:xfrm>
            <a:off x="640080" y="2834640"/>
            <a:ext cx="109728" cy="1280160"/>
          </a:xfrm>
          <a:prstGeom prst="rect">
            <a:avLst/>
          </a:prstGeom>
          <a:solidFill>
            <a:srgbClr val="E62B67"/>
          </a:solidFill>
          <a:ln/>
        </p:spPr>
        <p:txBody>
          <a:bodyPr/>
          <a:lstStyle/>
          <a:p>
            <a:endParaRPr lang="en-US"/>
          </a:p>
        </p:txBody>
      </p:sp>
      <p:sp>
        <p:nvSpPr>
          <p:cNvPr id="8" name="Text 5"/>
          <p:cNvSpPr/>
          <p:nvPr/>
        </p:nvSpPr>
        <p:spPr>
          <a:xfrm>
            <a:off x="914400" y="2971800"/>
            <a:ext cx="5486400" cy="228600"/>
          </a:xfrm>
          <a:prstGeom prst="rect">
            <a:avLst/>
          </a:prstGeom>
          <a:noFill/>
          <a:ln/>
        </p:spPr>
        <p:txBody>
          <a:bodyPr wrap="square" lIns="0" tIns="0" rIns="0" bIns="0" rtlCol="0" anchor="ctr"/>
          <a:lstStyle/>
          <a:p>
            <a:pPr marL="0" indent="0">
              <a:buNone/>
            </a:pPr>
            <a:r>
              <a:rPr lang="en-US" sz="900" b="1" kern="0" spc="300" dirty="0">
                <a:solidFill>
                  <a:srgbClr val="E62B67"/>
                </a:solidFill>
                <a:latin typeface="Arial" pitchFamily="34" charset="0"/>
                <a:ea typeface="Arial" pitchFamily="34" charset="-122"/>
                <a:cs typeface="Arial" pitchFamily="34" charset="-120"/>
              </a:rPr>
              <a:t>LANDMARK DECISION</a:t>
            </a:r>
            <a:endParaRPr lang="en-US" sz="900" dirty="0"/>
          </a:p>
        </p:txBody>
      </p:sp>
      <p:sp>
        <p:nvSpPr>
          <p:cNvPr id="9" name="Text 6"/>
          <p:cNvSpPr/>
          <p:nvPr/>
        </p:nvSpPr>
        <p:spPr>
          <a:xfrm>
            <a:off x="914400" y="3246120"/>
            <a:ext cx="10515600" cy="411480"/>
          </a:xfrm>
          <a:prstGeom prst="rect">
            <a:avLst/>
          </a:prstGeom>
          <a:noFill/>
          <a:ln/>
        </p:spPr>
        <p:txBody>
          <a:bodyPr wrap="square" lIns="0" tIns="0" rIns="0" bIns="0" rtlCol="0" anchor="ctr"/>
          <a:lstStyle/>
          <a:p>
            <a:pPr marL="0" indent="0">
              <a:buNone/>
            </a:pPr>
            <a:r>
              <a:rPr lang="en-US" sz="1800" b="1" dirty="0">
                <a:solidFill>
                  <a:srgbClr val="49267A"/>
                </a:solidFill>
                <a:latin typeface="Arial Black" pitchFamily="34" charset="0"/>
                <a:ea typeface="Arial Black" pitchFamily="34" charset="-122"/>
                <a:cs typeface="Arial Black" pitchFamily="34" charset="-120"/>
              </a:rPr>
              <a:t>Reproductive Justice Initiative Foundation (RJIF) v. Attorney General of the Federation</a:t>
            </a:r>
            <a:endParaRPr lang="en-US" sz="1800" dirty="0"/>
          </a:p>
        </p:txBody>
      </p:sp>
      <p:sp>
        <p:nvSpPr>
          <p:cNvPr id="10" name="Text 7"/>
          <p:cNvSpPr/>
          <p:nvPr/>
        </p:nvSpPr>
        <p:spPr>
          <a:xfrm>
            <a:off x="914400" y="3657600"/>
            <a:ext cx="10515600" cy="457200"/>
          </a:xfrm>
          <a:prstGeom prst="rect">
            <a:avLst/>
          </a:prstGeom>
          <a:noFill/>
          <a:ln/>
        </p:spPr>
        <p:txBody>
          <a:bodyPr wrap="square" lIns="0" tIns="0" rIns="0" bIns="0" rtlCol="0" anchor="ctr"/>
          <a:lstStyle/>
          <a:p>
            <a:pPr marL="0" indent="0">
              <a:buNone/>
            </a:pPr>
            <a:r>
              <a:rPr lang="en-US" sz="1200" i="1" dirty="0">
                <a:solidFill>
                  <a:srgbClr val="3A3A3A"/>
                </a:solidFill>
                <a:latin typeface="Arial" pitchFamily="34" charset="0"/>
                <a:ea typeface="Arial" pitchFamily="34" charset="-122"/>
                <a:cs typeface="Arial" pitchFamily="34" charset="-120"/>
              </a:rPr>
              <a:t>The Federal High Court affirmed that forcing a survivor of rape, incest, or sexual violence to carry an unplanned pregnancy constitutes a violation of her fundamental rights to physical and mental health.</a:t>
            </a:r>
            <a:endParaRPr lang="en-US" sz="1200" dirty="0"/>
          </a:p>
        </p:txBody>
      </p:sp>
      <p:sp>
        <p:nvSpPr>
          <p:cNvPr id="11" name="Shape 8"/>
          <p:cNvSpPr/>
          <p:nvPr/>
        </p:nvSpPr>
        <p:spPr>
          <a:xfrm>
            <a:off x="640080" y="4480560"/>
            <a:ext cx="3520440" cy="1783080"/>
          </a:xfrm>
          <a:prstGeom prst="rect">
            <a:avLst/>
          </a:prstGeom>
          <a:solidFill>
            <a:srgbClr val="FFFFFF"/>
          </a:solidFill>
          <a:ln w="12700">
            <a:solidFill>
              <a:srgbClr val="49267A"/>
            </a:solidFill>
            <a:prstDash val="solid"/>
          </a:ln>
        </p:spPr>
        <p:txBody>
          <a:bodyPr/>
          <a:lstStyle/>
          <a:p>
            <a:endParaRPr lang="en-US"/>
          </a:p>
        </p:txBody>
      </p:sp>
      <p:sp>
        <p:nvSpPr>
          <p:cNvPr id="12" name="Text 9"/>
          <p:cNvSpPr/>
          <p:nvPr/>
        </p:nvSpPr>
        <p:spPr>
          <a:xfrm>
            <a:off x="868680" y="4617720"/>
            <a:ext cx="3200400" cy="274320"/>
          </a:xfrm>
          <a:prstGeom prst="rect">
            <a:avLst/>
          </a:prstGeom>
          <a:noFill/>
          <a:ln/>
        </p:spPr>
        <p:txBody>
          <a:bodyPr wrap="square" lIns="0" tIns="0" rIns="0" bIns="0" rtlCol="0" anchor="ctr"/>
          <a:lstStyle/>
          <a:p>
            <a:pPr marL="0" indent="0">
              <a:buNone/>
            </a:pPr>
            <a:r>
              <a:rPr lang="en-US" sz="1100" b="1" kern="0" spc="300" dirty="0">
                <a:solidFill>
                  <a:srgbClr val="E62B67"/>
                </a:solidFill>
                <a:latin typeface="Arial Black" pitchFamily="34" charset="0"/>
                <a:ea typeface="Arial Black" pitchFamily="34" charset="-122"/>
                <a:cs typeface="Arial Black" pitchFamily="34" charset="-120"/>
              </a:rPr>
              <a:t>RECOGNITION</a:t>
            </a:r>
            <a:endParaRPr lang="en-US" sz="1100" dirty="0"/>
          </a:p>
        </p:txBody>
      </p:sp>
      <p:sp>
        <p:nvSpPr>
          <p:cNvPr id="13" name="Text 10"/>
          <p:cNvSpPr/>
          <p:nvPr/>
        </p:nvSpPr>
        <p:spPr>
          <a:xfrm>
            <a:off x="868680" y="4937760"/>
            <a:ext cx="3200400" cy="1280160"/>
          </a:xfrm>
          <a:prstGeom prst="rect">
            <a:avLst/>
          </a:prstGeom>
          <a:noFill/>
          <a:ln/>
        </p:spPr>
        <p:txBody>
          <a:bodyPr wrap="square" lIns="0" tIns="0" rIns="0" bIns="0" rtlCol="0" anchor="ctr"/>
          <a:lstStyle/>
          <a:p>
            <a:pPr marL="0" indent="0">
              <a:buNone/>
            </a:pPr>
            <a:r>
              <a:rPr lang="en-US" sz="1200" dirty="0">
                <a:solidFill>
                  <a:srgbClr val="3A3A3A"/>
                </a:solidFill>
                <a:latin typeface="Arial" pitchFamily="34" charset="0"/>
                <a:ea typeface="Arial" pitchFamily="34" charset="-122"/>
                <a:cs typeface="Arial" pitchFamily="34" charset="-120"/>
              </a:rPr>
              <a:t>Forced pregnancy is a form of harm — and the law must protect, not endanger, the vulnerable.</a:t>
            </a:r>
            <a:endParaRPr lang="en-US" sz="1200" dirty="0"/>
          </a:p>
        </p:txBody>
      </p:sp>
      <p:sp>
        <p:nvSpPr>
          <p:cNvPr id="14" name="Shape 11"/>
          <p:cNvSpPr/>
          <p:nvPr/>
        </p:nvSpPr>
        <p:spPr>
          <a:xfrm>
            <a:off x="4361688" y="4480560"/>
            <a:ext cx="3520440" cy="1783080"/>
          </a:xfrm>
          <a:prstGeom prst="rect">
            <a:avLst/>
          </a:prstGeom>
          <a:solidFill>
            <a:srgbClr val="FFFFFF"/>
          </a:solidFill>
          <a:ln w="12700">
            <a:solidFill>
              <a:srgbClr val="49267A"/>
            </a:solidFill>
            <a:prstDash val="solid"/>
          </a:ln>
        </p:spPr>
        <p:txBody>
          <a:bodyPr/>
          <a:lstStyle/>
          <a:p>
            <a:endParaRPr lang="en-US"/>
          </a:p>
        </p:txBody>
      </p:sp>
      <p:sp>
        <p:nvSpPr>
          <p:cNvPr id="15" name="Text 12"/>
          <p:cNvSpPr/>
          <p:nvPr/>
        </p:nvSpPr>
        <p:spPr>
          <a:xfrm>
            <a:off x="4590288" y="4617720"/>
            <a:ext cx="3200400" cy="274320"/>
          </a:xfrm>
          <a:prstGeom prst="rect">
            <a:avLst/>
          </a:prstGeom>
          <a:noFill/>
          <a:ln/>
        </p:spPr>
        <p:txBody>
          <a:bodyPr wrap="square" lIns="0" tIns="0" rIns="0" bIns="0" rtlCol="0" anchor="ctr"/>
          <a:lstStyle/>
          <a:p>
            <a:pPr marL="0" indent="0">
              <a:buNone/>
            </a:pPr>
            <a:r>
              <a:rPr lang="en-US" sz="1100" b="1" kern="0" spc="300" dirty="0">
                <a:solidFill>
                  <a:srgbClr val="E62B67"/>
                </a:solidFill>
                <a:latin typeface="Arial Black" pitchFamily="34" charset="0"/>
                <a:ea typeface="Arial Black" pitchFamily="34" charset="-122"/>
                <a:cs typeface="Arial Black" pitchFamily="34" charset="-120"/>
              </a:rPr>
              <a:t>REALIGNMENT</a:t>
            </a:r>
            <a:endParaRPr lang="en-US" sz="1100" dirty="0"/>
          </a:p>
        </p:txBody>
      </p:sp>
      <p:sp>
        <p:nvSpPr>
          <p:cNvPr id="16" name="Text 13"/>
          <p:cNvSpPr/>
          <p:nvPr/>
        </p:nvSpPr>
        <p:spPr>
          <a:xfrm>
            <a:off x="4590288" y="4937760"/>
            <a:ext cx="3200400" cy="1280160"/>
          </a:xfrm>
          <a:prstGeom prst="rect">
            <a:avLst/>
          </a:prstGeom>
          <a:noFill/>
          <a:ln/>
        </p:spPr>
        <p:txBody>
          <a:bodyPr wrap="square" lIns="0" tIns="0" rIns="0" bIns="0" rtlCol="0" anchor="ctr"/>
          <a:lstStyle/>
          <a:p>
            <a:pPr marL="0" indent="0">
              <a:buNone/>
            </a:pPr>
            <a:r>
              <a:rPr lang="en-US" sz="1200" dirty="0">
                <a:solidFill>
                  <a:srgbClr val="3A3A3A"/>
                </a:solidFill>
                <a:latin typeface="Arial" pitchFamily="34" charset="0"/>
                <a:ea typeface="Arial" pitchFamily="34" charset="-122"/>
                <a:cs typeface="Arial" pitchFamily="34" charset="-120"/>
              </a:rPr>
              <a:t>The judiciary now sees what survivors, clinicians and advocates have long known.</a:t>
            </a:r>
            <a:endParaRPr lang="en-US" sz="1200" dirty="0"/>
          </a:p>
        </p:txBody>
      </p:sp>
      <p:sp>
        <p:nvSpPr>
          <p:cNvPr id="17" name="Shape 14"/>
          <p:cNvSpPr/>
          <p:nvPr/>
        </p:nvSpPr>
        <p:spPr>
          <a:xfrm>
            <a:off x="8083296" y="4480560"/>
            <a:ext cx="3520440" cy="1783080"/>
          </a:xfrm>
          <a:prstGeom prst="rect">
            <a:avLst/>
          </a:prstGeom>
          <a:solidFill>
            <a:srgbClr val="FFFFFF"/>
          </a:solidFill>
          <a:ln w="12700">
            <a:solidFill>
              <a:srgbClr val="49267A"/>
            </a:solidFill>
            <a:prstDash val="solid"/>
          </a:ln>
        </p:spPr>
        <p:txBody>
          <a:bodyPr/>
          <a:lstStyle/>
          <a:p>
            <a:endParaRPr lang="en-US"/>
          </a:p>
        </p:txBody>
      </p:sp>
      <p:sp>
        <p:nvSpPr>
          <p:cNvPr id="18" name="Text 15"/>
          <p:cNvSpPr/>
          <p:nvPr/>
        </p:nvSpPr>
        <p:spPr>
          <a:xfrm>
            <a:off x="8311896" y="4617720"/>
            <a:ext cx="3200400" cy="274320"/>
          </a:xfrm>
          <a:prstGeom prst="rect">
            <a:avLst/>
          </a:prstGeom>
          <a:noFill/>
          <a:ln/>
        </p:spPr>
        <p:txBody>
          <a:bodyPr wrap="square" lIns="0" tIns="0" rIns="0" bIns="0" rtlCol="0" anchor="ctr"/>
          <a:lstStyle/>
          <a:p>
            <a:pPr marL="0" indent="0">
              <a:buNone/>
            </a:pPr>
            <a:r>
              <a:rPr lang="en-US" sz="1100" b="1" kern="0" spc="300" dirty="0">
                <a:solidFill>
                  <a:srgbClr val="E62B67"/>
                </a:solidFill>
                <a:latin typeface="Arial Black" pitchFamily="34" charset="0"/>
                <a:ea typeface="Arial Black" pitchFamily="34" charset="-122"/>
                <a:cs typeface="Arial Black" pitchFamily="34" charset="-120"/>
              </a:rPr>
              <a:t>RESPONSIBILITY</a:t>
            </a:r>
            <a:endParaRPr lang="en-US" sz="1100" dirty="0"/>
          </a:p>
        </p:txBody>
      </p:sp>
      <p:sp>
        <p:nvSpPr>
          <p:cNvPr id="19" name="Text 16"/>
          <p:cNvSpPr/>
          <p:nvPr/>
        </p:nvSpPr>
        <p:spPr>
          <a:xfrm>
            <a:off x="8311896" y="4937760"/>
            <a:ext cx="3200400" cy="1280160"/>
          </a:xfrm>
          <a:prstGeom prst="rect">
            <a:avLst/>
          </a:prstGeom>
          <a:noFill/>
          <a:ln/>
        </p:spPr>
        <p:txBody>
          <a:bodyPr wrap="square" lIns="0" tIns="0" rIns="0" bIns="0" rtlCol="0" anchor="ctr"/>
          <a:lstStyle/>
          <a:p>
            <a:pPr marL="0" indent="0">
              <a:buNone/>
            </a:pPr>
            <a:r>
              <a:rPr lang="en-US" sz="1200" dirty="0">
                <a:solidFill>
                  <a:srgbClr val="3A3A3A"/>
                </a:solidFill>
                <a:latin typeface="Arial" pitchFamily="34" charset="0"/>
                <a:ea typeface="Arial" pitchFamily="34" charset="-122"/>
                <a:cs typeface="Arial" pitchFamily="34" charset="-120"/>
              </a:rPr>
              <a:t>The National Assembly must align statutes with the courts, the policies, and the science.</a:t>
            </a:r>
            <a:endParaRPr lang="en-US" sz="1200" dirty="0"/>
          </a:p>
        </p:txBody>
      </p:sp>
      <p:sp>
        <p:nvSpPr>
          <p:cNvPr id="20" name="Shape 17"/>
          <p:cNvSpPr/>
          <p:nvPr/>
        </p:nvSpPr>
        <p:spPr>
          <a:xfrm>
            <a:off x="0" y="6629400"/>
            <a:ext cx="12161520" cy="228600"/>
          </a:xfrm>
          <a:prstGeom prst="rect">
            <a:avLst/>
          </a:prstGeom>
          <a:solidFill>
            <a:srgbClr val="49267A"/>
          </a:solidFill>
          <a:ln/>
        </p:spPr>
        <p:txBody>
          <a:bodyPr/>
          <a:lstStyle/>
          <a:p>
            <a:endParaRPr lang="en-US"/>
          </a:p>
        </p:txBody>
      </p:sp>
      <p:sp>
        <p:nvSpPr>
          <p:cNvPr id="21" name="Text 18"/>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2" name="Text 19"/>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6 / 19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62B67"/>
        </a:solidFill>
        <a:effectLst/>
      </p:bgPr>
    </p:bg>
    <p:spTree>
      <p:nvGrpSpPr>
        <p:cNvPr id="1" name=""/>
        <p:cNvGrpSpPr/>
        <p:nvPr/>
      </p:nvGrpSpPr>
      <p:grpSpPr>
        <a:xfrm>
          <a:off x="0" y="0"/>
          <a:ext cx="0" cy="0"/>
          <a:chOff x="0" y="0"/>
          <a:chExt cx="0" cy="0"/>
        </a:xfrm>
      </p:grpSpPr>
      <p:pic>
        <p:nvPicPr>
          <p:cNvPr id="2" name="Image 0" descr="/home/claude/work/pamoja_logo_white.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8686800" y="-914400"/>
            <a:ext cx="4572000" cy="4572000"/>
          </a:xfrm>
          <a:prstGeom prst="rect">
            <a:avLst/>
          </a:prstGeom>
          <a:noFill/>
          <a:ln/>
        </p:spPr>
        <p:txBody>
          <a:bodyPr wrap="square" lIns="0" tIns="0" rIns="0" bIns="0" rtlCol="0" anchor="ctr"/>
          <a:lstStyle/>
          <a:p>
            <a:pPr marL="0" indent="0">
              <a:buNone/>
            </a:pPr>
            <a:r>
              <a:rPr lang="en-US" sz="38000" dirty="0">
                <a:solidFill>
                  <a:srgbClr val="F8C501">
                    <a:alpha val="25000"/>
                  </a:srgbClr>
                </a:solidFill>
                <a:latin typeface="Arial" pitchFamily="34" charset="0"/>
                <a:ea typeface="Arial" pitchFamily="34" charset="-122"/>
                <a:cs typeface="Arial" pitchFamily="34" charset="-120"/>
              </a:rPr>
              <a:t>✦</a:t>
            </a:r>
            <a:endParaRPr lang="en-US" sz="38000" dirty="0"/>
          </a:p>
        </p:txBody>
      </p:sp>
      <p:sp>
        <p:nvSpPr>
          <p:cNvPr id="4" name="Text 1"/>
          <p:cNvSpPr/>
          <p:nvPr/>
        </p:nvSpPr>
        <p:spPr>
          <a:xfrm>
            <a:off x="640080" y="2286000"/>
            <a:ext cx="4572000" cy="365760"/>
          </a:xfrm>
          <a:prstGeom prst="rect">
            <a:avLst/>
          </a:prstGeom>
          <a:noFill/>
          <a:ln/>
        </p:spPr>
        <p:txBody>
          <a:bodyPr wrap="square" lIns="0" tIns="0" rIns="0" bIns="0" rtlCol="0" anchor="ctr"/>
          <a:lstStyle/>
          <a:p>
            <a:pPr marL="0" indent="0">
              <a:buNone/>
            </a:pPr>
            <a:r>
              <a:rPr lang="en-US" sz="1200" b="1" kern="0" spc="600" dirty="0">
                <a:solidFill>
                  <a:srgbClr val="F8C501"/>
                </a:solidFill>
                <a:latin typeface="Arial" pitchFamily="34" charset="0"/>
                <a:ea typeface="Arial" pitchFamily="34" charset="-122"/>
                <a:cs typeface="Arial" pitchFamily="34" charset="-120"/>
              </a:rPr>
              <a:t>PART 02</a:t>
            </a:r>
            <a:endParaRPr lang="en-US" sz="1200" dirty="0"/>
          </a:p>
        </p:txBody>
      </p:sp>
      <p:sp>
        <p:nvSpPr>
          <p:cNvPr id="5" name="Text 2"/>
          <p:cNvSpPr/>
          <p:nvPr/>
        </p:nvSpPr>
        <p:spPr>
          <a:xfrm>
            <a:off x="640080" y="2743200"/>
            <a:ext cx="10058400" cy="2011680"/>
          </a:xfrm>
          <a:prstGeom prst="rect">
            <a:avLst/>
          </a:prstGeom>
          <a:noFill/>
          <a:ln/>
        </p:spPr>
        <p:txBody>
          <a:bodyPr wrap="square" lIns="0" tIns="0" rIns="0" bIns="0" rtlCol="0" anchor="ctr"/>
          <a:lstStyle/>
          <a:p>
            <a:pPr marL="0" indent="0">
              <a:buNone/>
            </a:pPr>
            <a:r>
              <a:rPr lang="en-US" sz="6000" b="1" kern="0" spc="-150" dirty="0">
                <a:solidFill>
                  <a:srgbClr val="FFFFFF"/>
                </a:solidFill>
                <a:latin typeface="Arial Black" pitchFamily="34" charset="0"/>
                <a:ea typeface="Arial Black" pitchFamily="34" charset="-122"/>
                <a:cs typeface="Arial Black" pitchFamily="34" charset="-120"/>
              </a:rPr>
              <a:t>Implications of</a:t>
            </a:r>
            <a:endParaRPr lang="en-US" sz="6000" dirty="0"/>
          </a:p>
          <a:p>
            <a:pPr marL="0" indent="0">
              <a:buNone/>
            </a:pPr>
            <a:r>
              <a:rPr lang="en-US" sz="6000" b="1" kern="0" spc="-150" dirty="0">
                <a:solidFill>
                  <a:srgbClr val="FFFFFF"/>
                </a:solidFill>
                <a:latin typeface="Arial Black" pitchFamily="34" charset="0"/>
                <a:ea typeface="Arial Black" pitchFamily="34" charset="-122"/>
                <a:cs typeface="Arial Black" pitchFamily="34" charset="-120"/>
              </a:rPr>
              <a:t>Restrictive Laws</a:t>
            </a:r>
            <a:endParaRPr lang="en-US" sz="6000" dirty="0"/>
          </a:p>
        </p:txBody>
      </p:sp>
      <p:sp>
        <p:nvSpPr>
          <p:cNvPr id="6" name="Shape 3"/>
          <p:cNvSpPr/>
          <p:nvPr/>
        </p:nvSpPr>
        <p:spPr>
          <a:xfrm>
            <a:off x="640080" y="4937760"/>
            <a:ext cx="1097280" cy="0"/>
          </a:xfrm>
          <a:prstGeom prst="line">
            <a:avLst/>
          </a:prstGeom>
          <a:noFill/>
          <a:ln w="50800">
            <a:solidFill>
              <a:srgbClr val="49267A"/>
            </a:solidFill>
            <a:prstDash val="solid"/>
          </a:ln>
        </p:spPr>
        <p:txBody>
          <a:bodyPr/>
          <a:lstStyle/>
          <a:p>
            <a:endParaRPr lang="en-US"/>
          </a:p>
        </p:txBody>
      </p:sp>
      <p:sp>
        <p:nvSpPr>
          <p:cNvPr id="7" name="Text 4"/>
          <p:cNvSpPr/>
          <p:nvPr/>
        </p:nvSpPr>
        <p:spPr>
          <a:xfrm>
            <a:off x="640080" y="5212080"/>
            <a:ext cx="8229600" cy="1188720"/>
          </a:xfrm>
          <a:prstGeom prst="rect">
            <a:avLst/>
          </a:prstGeom>
          <a:noFill/>
          <a:ln/>
        </p:spPr>
        <p:txBody>
          <a:bodyPr wrap="square" lIns="0" tIns="0" rIns="0" bIns="0" rtlCol="0" anchor="ctr"/>
          <a:lstStyle/>
          <a:p>
            <a:pPr marL="0" indent="0">
              <a:buNone/>
            </a:pPr>
            <a:r>
              <a:rPr lang="en-US" sz="1600" i="1" dirty="0">
                <a:solidFill>
                  <a:srgbClr val="FFFFFF"/>
                </a:solidFill>
                <a:latin typeface="Arial" pitchFamily="34" charset="0"/>
                <a:ea typeface="Arial" pitchFamily="34" charset="-122"/>
                <a:cs typeface="Arial" pitchFamily="34" charset="-120"/>
              </a:rPr>
              <a:t>Nigeria's laws do not prevent abortions. They only prevent safe abortions. Restrictive laws drive women into secrecy, undermine the Federal Ministry of Health's own guidelines, and expose the most vulnerable to exploitation.</a:t>
            </a:r>
            <a:endParaRPr lang="en-US" sz="1600" dirty="0"/>
          </a:p>
        </p:txBody>
      </p:sp>
      <p:sp>
        <p:nvSpPr>
          <p:cNvPr id="8" name="Shape 5"/>
          <p:cNvSpPr/>
          <p:nvPr/>
        </p:nvSpPr>
        <p:spPr>
          <a:xfrm>
            <a:off x="0" y="6629400"/>
            <a:ext cx="12161520" cy="228600"/>
          </a:xfrm>
          <a:prstGeom prst="rect">
            <a:avLst/>
          </a:prstGeom>
          <a:solidFill>
            <a:srgbClr val="49267A"/>
          </a:solidFill>
          <a:ln/>
        </p:spPr>
        <p:txBody>
          <a:bodyPr/>
          <a:lstStyle/>
          <a:p>
            <a:endParaRPr lang="en-US"/>
          </a:p>
        </p:txBody>
      </p:sp>
      <p:sp>
        <p:nvSpPr>
          <p:cNvPr id="9" name="Text 6"/>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10" name="Text 7"/>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7 / 19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02.1</a:t>
            </a:r>
            <a:endParaRPr lang="en-US" sz="2400" dirty="0"/>
          </a:p>
        </p:txBody>
      </p:sp>
      <p:sp>
        <p:nvSpPr>
          <p:cNvPr id="4" name="Text 1"/>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THE NUMBERS</a:t>
            </a:r>
            <a:endParaRPr lang="en-US" sz="1100" dirty="0"/>
          </a:p>
        </p:txBody>
      </p:sp>
      <p:sp>
        <p:nvSpPr>
          <p:cNvPr id="5" name="Text 2"/>
          <p:cNvSpPr/>
          <p:nvPr/>
        </p:nvSpPr>
        <p:spPr>
          <a:xfrm>
            <a:off x="640080" y="1097280"/>
            <a:ext cx="10972800" cy="1097280"/>
          </a:xfrm>
          <a:prstGeom prst="rect">
            <a:avLst/>
          </a:prstGeom>
          <a:noFill/>
          <a:ln/>
        </p:spPr>
        <p:txBody>
          <a:bodyPr wrap="square" lIns="0" tIns="0" rIns="0" bIns="0" rtlCol="0" anchor="ctr"/>
          <a:lstStyle/>
          <a:p>
            <a:pPr marL="0" indent="0">
              <a:buNone/>
            </a:pPr>
            <a:r>
              <a:rPr lang="en-US" sz="2800" b="1" kern="0" spc="-50" dirty="0">
                <a:solidFill>
                  <a:srgbClr val="49267A"/>
                </a:solidFill>
                <a:latin typeface="Arial Black" pitchFamily="34" charset="0"/>
                <a:ea typeface="Arial Black" pitchFamily="34" charset="-122"/>
                <a:cs typeface="Arial Black" pitchFamily="34" charset="-120"/>
              </a:rPr>
              <a:t>Nigeria's laws prevent safe abortions, not abortions.</a:t>
            </a:r>
            <a:endParaRPr lang="en-US" sz="2800" dirty="0"/>
          </a:p>
        </p:txBody>
      </p:sp>
      <p:sp>
        <p:nvSpPr>
          <p:cNvPr id="6" name="Shape 3"/>
          <p:cNvSpPr/>
          <p:nvPr/>
        </p:nvSpPr>
        <p:spPr>
          <a:xfrm>
            <a:off x="640080" y="2560320"/>
            <a:ext cx="2606040" cy="3383280"/>
          </a:xfrm>
          <a:prstGeom prst="rect">
            <a:avLst/>
          </a:prstGeom>
          <a:solidFill>
            <a:srgbClr val="49267A"/>
          </a:solidFill>
          <a:ln/>
        </p:spPr>
        <p:txBody>
          <a:bodyPr/>
          <a:lstStyle/>
          <a:p>
            <a:endParaRPr lang="en-US"/>
          </a:p>
        </p:txBody>
      </p:sp>
      <p:sp>
        <p:nvSpPr>
          <p:cNvPr id="7" name="Text 4"/>
          <p:cNvSpPr/>
          <p:nvPr/>
        </p:nvSpPr>
        <p:spPr>
          <a:xfrm>
            <a:off x="777240" y="2651760"/>
            <a:ext cx="2377440" cy="1280160"/>
          </a:xfrm>
          <a:prstGeom prst="rect">
            <a:avLst/>
          </a:prstGeom>
          <a:noFill/>
          <a:ln/>
        </p:spPr>
        <p:txBody>
          <a:bodyPr wrap="square" lIns="0" tIns="0" rIns="0" bIns="0" rtlCol="0" anchor="t"/>
          <a:lstStyle/>
          <a:p>
            <a:pPr marL="0" indent="0">
              <a:buNone/>
            </a:pPr>
            <a:r>
              <a:rPr lang="en-US" sz="4800" b="1" kern="0" spc="-200" dirty="0">
                <a:solidFill>
                  <a:srgbClr val="FFFFFF"/>
                </a:solidFill>
                <a:latin typeface="Arial Black" pitchFamily="34" charset="0"/>
                <a:ea typeface="Arial Black" pitchFamily="34" charset="-122"/>
                <a:cs typeface="Arial Black" pitchFamily="34" charset="-120"/>
              </a:rPr>
              <a:t>1.2M+</a:t>
            </a:r>
            <a:endParaRPr lang="en-US" sz="4800" dirty="0"/>
          </a:p>
        </p:txBody>
      </p:sp>
      <p:sp>
        <p:nvSpPr>
          <p:cNvPr id="8" name="Text 5"/>
          <p:cNvSpPr/>
          <p:nvPr/>
        </p:nvSpPr>
        <p:spPr>
          <a:xfrm>
            <a:off x="822960" y="4023360"/>
            <a:ext cx="2286000" cy="64008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Black" pitchFamily="34" charset="0"/>
                <a:ea typeface="Arial Black" pitchFamily="34" charset="-122"/>
                <a:cs typeface="Arial Black" pitchFamily="34" charset="-120"/>
              </a:rPr>
              <a:t>ABORTIONS PER YEAR</a:t>
            </a:r>
            <a:endParaRPr lang="en-US" sz="1100" dirty="0"/>
          </a:p>
        </p:txBody>
      </p:sp>
      <p:sp>
        <p:nvSpPr>
          <p:cNvPr id="9" name="Text 6"/>
          <p:cNvSpPr/>
          <p:nvPr/>
        </p:nvSpPr>
        <p:spPr>
          <a:xfrm>
            <a:off x="822960" y="4754880"/>
            <a:ext cx="2286000" cy="109728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Most performed clandestinely, in unsafe conditions.</a:t>
            </a:r>
            <a:endParaRPr lang="en-US" sz="1100" dirty="0"/>
          </a:p>
        </p:txBody>
      </p:sp>
      <p:sp>
        <p:nvSpPr>
          <p:cNvPr id="10" name="Shape 7"/>
          <p:cNvSpPr/>
          <p:nvPr/>
        </p:nvSpPr>
        <p:spPr>
          <a:xfrm>
            <a:off x="3447288" y="2560320"/>
            <a:ext cx="2606040" cy="3383280"/>
          </a:xfrm>
          <a:prstGeom prst="rect">
            <a:avLst/>
          </a:prstGeom>
          <a:solidFill>
            <a:srgbClr val="F8C501"/>
          </a:solidFill>
          <a:ln/>
        </p:spPr>
        <p:txBody>
          <a:bodyPr/>
          <a:lstStyle/>
          <a:p>
            <a:endParaRPr lang="en-US"/>
          </a:p>
        </p:txBody>
      </p:sp>
      <p:sp>
        <p:nvSpPr>
          <p:cNvPr id="11" name="Text 8"/>
          <p:cNvSpPr/>
          <p:nvPr/>
        </p:nvSpPr>
        <p:spPr>
          <a:xfrm>
            <a:off x="3584448" y="2651760"/>
            <a:ext cx="2377440" cy="1280160"/>
          </a:xfrm>
          <a:prstGeom prst="rect">
            <a:avLst/>
          </a:prstGeom>
          <a:noFill/>
          <a:ln/>
        </p:spPr>
        <p:txBody>
          <a:bodyPr wrap="square" lIns="0" tIns="0" rIns="0" bIns="0" rtlCol="0" anchor="t"/>
          <a:lstStyle/>
          <a:p>
            <a:pPr marL="0" indent="0">
              <a:buNone/>
            </a:pPr>
            <a:r>
              <a:rPr lang="en-US" sz="4800" b="1" kern="0" spc="-200" dirty="0">
                <a:solidFill>
                  <a:srgbClr val="0A0A0A"/>
                </a:solidFill>
                <a:latin typeface="Arial Black" pitchFamily="34" charset="0"/>
                <a:ea typeface="Arial Black" pitchFamily="34" charset="-122"/>
                <a:cs typeface="Arial Black" pitchFamily="34" charset="-120"/>
              </a:rPr>
              <a:t>29</a:t>
            </a:r>
            <a:endParaRPr lang="en-US" sz="4800" dirty="0"/>
          </a:p>
        </p:txBody>
      </p:sp>
      <p:sp>
        <p:nvSpPr>
          <p:cNvPr id="12" name="Text 9"/>
          <p:cNvSpPr/>
          <p:nvPr/>
        </p:nvSpPr>
        <p:spPr>
          <a:xfrm>
            <a:off x="3630168" y="4023360"/>
            <a:ext cx="2286000" cy="640080"/>
          </a:xfrm>
          <a:prstGeom prst="rect">
            <a:avLst/>
          </a:prstGeom>
          <a:noFill/>
          <a:ln/>
        </p:spPr>
        <p:txBody>
          <a:bodyPr wrap="square" lIns="0" tIns="0" rIns="0" bIns="0" rtlCol="0" anchor="ctr"/>
          <a:lstStyle/>
          <a:p>
            <a:pPr marL="0" indent="0">
              <a:buNone/>
            </a:pPr>
            <a:r>
              <a:rPr lang="en-US" sz="1100" b="1" kern="0" spc="200" dirty="0">
                <a:solidFill>
                  <a:srgbClr val="0A0A0A"/>
                </a:solidFill>
                <a:latin typeface="Arial Black" pitchFamily="34" charset="0"/>
                <a:ea typeface="Arial Black" pitchFamily="34" charset="-122"/>
                <a:cs typeface="Arial Black" pitchFamily="34" charset="-120"/>
              </a:rPr>
              <a:t>PER 1,000 WOMEN</a:t>
            </a:r>
            <a:endParaRPr lang="en-US" sz="1100" dirty="0"/>
          </a:p>
        </p:txBody>
      </p:sp>
      <p:sp>
        <p:nvSpPr>
          <p:cNvPr id="13" name="Text 10"/>
          <p:cNvSpPr/>
          <p:nvPr/>
        </p:nvSpPr>
        <p:spPr>
          <a:xfrm>
            <a:off x="3630168" y="4754880"/>
            <a:ext cx="2286000" cy="1097280"/>
          </a:xfrm>
          <a:prstGeom prst="rect">
            <a:avLst/>
          </a:prstGeom>
          <a:noFill/>
          <a:ln/>
        </p:spPr>
        <p:txBody>
          <a:bodyPr wrap="square" lIns="0" tIns="0" rIns="0" bIns="0" rtlCol="0" anchor="ctr"/>
          <a:lstStyle/>
          <a:p>
            <a:pPr marL="0" indent="0">
              <a:buNone/>
            </a:pPr>
            <a:r>
              <a:rPr lang="en-US" sz="1100" dirty="0">
                <a:solidFill>
                  <a:srgbClr val="0A0A0A"/>
                </a:solidFill>
                <a:latin typeface="Arial" pitchFamily="34" charset="0"/>
                <a:ea typeface="Arial" pitchFamily="34" charset="-122"/>
                <a:cs typeface="Arial" pitchFamily="34" charset="-120"/>
              </a:rPr>
              <a:t>Annual incidence rate among women aged 15–49.</a:t>
            </a:r>
            <a:endParaRPr lang="en-US" sz="1100" dirty="0"/>
          </a:p>
        </p:txBody>
      </p:sp>
      <p:sp>
        <p:nvSpPr>
          <p:cNvPr id="14" name="Shape 11"/>
          <p:cNvSpPr/>
          <p:nvPr/>
        </p:nvSpPr>
        <p:spPr>
          <a:xfrm>
            <a:off x="6254496" y="2560320"/>
            <a:ext cx="2606040" cy="3383280"/>
          </a:xfrm>
          <a:prstGeom prst="rect">
            <a:avLst/>
          </a:prstGeom>
          <a:solidFill>
            <a:srgbClr val="E62B67"/>
          </a:solidFill>
          <a:ln/>
        </p:spPr>
        <p:txBody>
          <a:bodyPr/>
          <a:lstStyle/>
          <a:p>
            <a:endParaRPr lang="en-US"/>
          </a:p>
        </p:txBody>
      </p:sp>
      <p:sp>
        <p:nvSpPr>
          <p:cNvPr id="15" name="Text 12"/>
          <p:cNvSpPr/>
          <p:nvPr/>
        </p:nvSpPr>
        <p:spPr>
          <a:xfrm>
            <a:off x="6391656" y="2651760"/>
            <a:ext cx="2377440" cy="1280160"/>
          </a:xfrm>
          <a:prstGeom prst="rect">
            <a:avLst/>
          </a:prstGeom>
          <a:noFill/>
          <a:ln/>
        </p:spPr>
        <p:txBody>
          <a:bodyPr wrap="square" lIns="0" tIns="0" rIns="0" bIns="0" rtlCol="0" anchor="t"/>
          <a:lstStyle/>
          <a:p>
            <a:pPr marL="0" indent="0">
              <a:buNone/>
            </a:pPr>
            <a:r>
              <a:rPr lang="en-US" sz="4800" b="1" kern="0" spc="-200" dirty="0">
                <a:solidFill>
                  <a:srgbClr val="FFFFFF"/>
                </a:solidFill>
                <a:latin typeface="Arial Black" pitchFamily="34" charset="0"/>
                <a:ea typeface="Arial Black" pitchFamily="34" charset="-122"/>
                <a:cs typeface="Arial Black" pitchFamily="34" charset="-120"/>
              </a:rPr>
              <a:t>512</a:t>
            </a:r>
            <a:endParaRPr lang="en-US" sz="4800" dirty="0"/>
          </a:p>
        </p:txBody>
      </p:sp>
      <p:sp>
        <p:nvSpPr>
          <p:cNvPr id="16" name="Text 13"/>
          <p:cNvSpPr/>
          <p:nvPr/>
        </p:nvSpPr>
        <p:spPr>
          <a:xfrm>
            <a:off x="6437376" y="4023360"/>
            <a:ext cx="2286000" cy="64008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Black" pitchFamily="34" charset="0"/>
                <a:ea typeface="Arial Black" pitchFamily="34" charset="-122"/>
                <a:cs typeface="Arial Black" pitchFamily="34" charset="-120"/>
              </a:rPr>
              <a:t>MATERNAL DEATHS / 100K LIVE BIRTHS</a:t>
            </a:r>
            <a:endParaRPr lang="en-US" sz="1100" dirty="0"/>
          </a:p>
        </p:txBody>
      </p:sp>
      <p:sp>
        <p:nvSpPr>
          <p:cNvPr id="17" name="Text 14"/>
          <p:cNvSpPr/>
          <p:nvPr/>
        </p:nvSpPr>
        <p:spPr>
          <a:xfrm>
            <a:off x="6437376" y="4754880"/>
            <a:ext cx="2286000" cy="109728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One of the highest maternal mortality ratios in the world.</a:t>
            </a:r>
            <a:endParaRPr lang="en-US" sz="1100" dirty="0"/>
          </a:p>
        </p:txBody>
      </p:sp>
      <p:sp>
        <p:nvSpPr>
          <p:cNvPr id="18" name="Shape 15"/>
          <p:cNvSpPr/>
          <p:nvPr/>
        </p:nvSpPr>
        <p:spPr>
          <a:xfrm>
            <a:off x="9061704" y="2560320"/>
            <a:ext cx="2606040" cy="3383280"/>
          </a:xfrm>
          <a:prstGeom prst="rect">
            <a:avLst/>
          </a:prstGeom>
          <a:solidFill>
            <a:srgbClr val="0A0A0A"/>
          </a:solidFill>
          <a:ln/>
        </p:spPr>
        <p:txBody>
          <a:bodyPr/>
          <a:lstStyle/>
          <a:p>
            <a:endParaRPr lang="en-US"/>
          </a:p>
        </p:txBody>
      </p:sp>
      <p:sp>
        <p:nvSpPr>
          <p:cNvPr id="19" name="Text 16"/>
          <p:cNvSpPr/>
          <p:nvPr/>
        </p:nvSpPr>
        <p:spPr>
          <a:xfrm>
            <a:off x="9198864" y="2651760"/>
            <a:ext cx="2377440" cy="1280160"/>
          </a:xfrm>
          <a:prstGeom prst="rect">
            <a:avLst/>
          </a:prstGeom>
          <a:noFill/>
          <a:ln/>
        </p:spPr>
        <p:txBody>
          <a:bodyPr wrap="square" lIns="0" tIns="0" rIns="0" bIns="0" rtlCol="0" anchor="t"/>
          <a:lstStyle/>
          <a:p>
            <a:pPr marL="0" indent="0">
              <a:buNone/>
            </a:pPr>
            <a:r>
              <a:rPr lang="en-US" sz="4800" b="1" kern="0" spc="-200" dirty="0">
                <a:solidFill>
                  <a:srgbClr val="FFFFFF"/>
                </a:solidFill>
                <a:latin typeface="Arial Black" pitchFamily="34" charset="0"/>
                <a:ea typeface="Arial Black" pitchFamily="34" charset="-122"/>
                <a:cs typeface="Arial Black" pitchFamily="34" charset="-120"/>
              </a:rPr>
              <a:t>61K</a:t>
            </a:r>
            <a:endParaRPr lang="en-US" sz="4800" dirty="0"/>
          </a:p>
        </p:txBody>
      </p:sp>
      <p:sp>
        <p:nvSpPr>
          <p:cNvPr id="20" name="Text 17"/>
          <p:cNvSpPr/>
          <p:nvPr/>
        </p:nvSpPr>
        <p:spPr>
          <a:xfrm>
            <a:off x="9244584" y="4023360"/>
            <a:ext cx="2286000" cy="64008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Black" pitchFamily="34" charset="0"/>
                <a:ea typeface="Arial Black" pitchFamily="34" charset="-122"/>
                <a:cs typeface="Arial Black" pitchFamily="34" charset="-120"/>
              </a:rPr>
              <a:t>WOMEN DIE EACH YEAR</a:t>
            </a:r>
            <a:endParaRPr lang="en-US" sz="1100" dirty="0"/>
          </a:p>
        </p:txBody>
      </p:sp>
      <p:sp>
        <p:nvSpPr>
          <p:cNvPr id="21" name="Text 18"/>
          <p:cNvSpPr/>
          <p:nvPr/>
        </p:nvSpPr>
        <p:spPr>
          <a:xfrm>
            <a:off x="9244584" y="4754880"/>
            <a:ext cx="2286000" cy="109728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From complications of unsafe abortions or unintended pregnancy. (FMOH / WHO estimates)</a:t>
            </a:r>
            <a:endParaRPr lang="en-US" sz="1100" dirty="0"/>
          </a:p>
        </p:txBody>
      </p:sp>
      <p:sp>
        <p:nvSpPr>
          <p:cNvPr id="22" name="Text 19"/>
          <p:cNvSpPr/>
          <p:nvPr/>
        </p:nvSpPr>
        <p:spPr>
          <a:xfrm>
            <a:off x="640080" y="6126480"/>
            <a:ext cx="10972800" cy="274320"/>
          </a:xfrm>
          <a:prstGeom prst="rect">
            <a:avLst/>
          </a:prstGeom>
          <a:noFill/>
          <a:ln/>
        </p:spPr>
        <p:txBody>
          <a:bodyPr wrap="square" lIns="0" tIns="0" rIns="0" bIns="0" rtlCol="0" anchor="ctr"/>
          <a:lstStyle/>
          <a:p>
            <a:pPr marL="0" indent="0">
              <a:buNone/>
            </a:pPr>
            <a:r>
              <a:rPr lang="en-US" sz="900" i="1" dirty="0">
                <a:solidFill>
                  <a:srgbClr val="8B8B8B"/>
                </a:solidFill>
                <a:latin typeface="Arial" pitchFamily="34" charset="0"/>
                <a:ea typeface="Arial" pitchFamily="34" charset="-122"/>
                <a:cs typeface="Arial" pitchFamily="34" charset="-120"/>
              </a:rPr>
              <a:t>Sources: Federal Ministry of Health, World Health Organisation, national estimates.</a:t>
            </a:r>
            <a:endParaRPr lang="en-US" sz="900" dirty="0"/>
          </a:p>
        </p:txBody>
      </p:sp>
      <p:sp>
        <p:nvSpPr>
          <p:cNvPr id="23" name="Shape 20"/>
          <p:cNvSpPr/>
          <p:nvPr/>
        </p:nvSpPr>
        <p:spPr>
          <a:xfrm>
            <a:off x="0" y="6629400"/>
            <a:ext cx="12161520" cy="228600"/>
          </a:xfrm>
          <a:prstGeom prst="rect">
            <a:avLst/>
          </a:prstGeom>
          <a:solidFill>
            <a:srgbClr val="49267A"/>
          </a:solidFill>
          <a:ln/>
        </p:spPr>
        <p:txBody>
          <a:bodyPr/>
          <a:lstStyle/>
          <a:p>
            <a:endParaRPr lang="en-US"/>
          </a:p>
        </p:txBody>
      </p:sp>
      <p:sp>
        <p:nvSpPr>
          <p:cNvPr id="24" name="Text 21"/>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5" name="Text 22"/>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8 / 19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02.2</a:t>
            </a:r>
            <a:endParaRPr lang="en-US" sz="2400" dirty="0"/>
          </a:p>
        </p:txBody>
      </p:sp>
      <p:sp>
        <p:nvSpPr>
          <p:cNvPr id="4" name="Text 1"/>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LAW VS. POLICY</a:t>
            </a:r>
            <a:endParaRPr lang="en-US" sz="1100" dirty="0"/>
          </a:p>
        </p:txBody>
      </p:sp>
      <p:sp>
        <p:nvSpPr>
          <p:cNvPr id="5" name="Text 2"/>
          <p:cNvSpPr/>
          <p:nvPr/>
        </p:nvSpPr>
        <p:spPr>
          <a:xfrm>
            <a:off x="640080" y="1097280"/>
            <a:ext cx="10972800" cy="1280160"/>
          </a:xfrm>
          <a:prstGeom prst="rect">
            <a:avLst/>
          </a:prstGeom>
          <a:noFill/>
          <a:ln/>
        </p:spPr>
        <p:txBody>
          <a:bodyPr wrap="square" lIns="0" tIns="0" rIns="0" bIns="0" rtlCol="0" anchor="ctr"/>
          <a:lstStyle/>
          <a:p>
            <a:pPr marL="0" indent="0">
              <a:buNone/>
            </a:pPr>
            <a:r>
              <a:rPr lang="en-US" sz="2600" b="1" kern="0" spc="-50" dirty="0">
                <a:solidFill>
                  <a:srgbClr val="49267A"/>
                </a:solidFill>
                <a:latin typeface="Arial Black" pitchFamily="34" charset="0"/>
                <a:ea typeface="Arial Black" pitchFamily="34" charset="-122"/>
                <a:cs typeface="Arial Black" pitchFamily="34" charset="-120"/>
              </a:rPr>
              <a:t>Restrictive laws undermine the work of the Federal Ministry of Health.</a:t>
            </a:r>
            <a:endParaRPr lang="en-US" sz="2600" dirty="0"/>
          </a:p>
        </p:txBody>
      </p:sp>
      <p:sp>
        <p:nvSpPr>
          <p:cNvPr id="6" name="Text 3"/>
          <p:cNvSpPr/>
          <p:nvPr/>
        </p:nvSpPr>
        <p:spPr>
          <a:xfrm>
            <a:off x="640080" y="2651760"/>
            <a:ext cx="5486400" cy="274320"/>
          </a:xfrm>
          <a:prstGeom prst="rect">
            <a:avLst/>
          </a:prstGeom>
          <a:noFill/>
          <a:ln/>
        </p:spPr>
        <p:txBody>
          <a:bodyPr wrap="square" lIns="0" tIns="0" rIns="0" bIns="0" rtlCol="0" anchor="ctr"/>
          <a:lstStyle/>
          <a:p>
            <a:pPr marL="0" indent="0">
              <a:buNone/>
            </a:pPr>
            <a:r>
              <a:rPr lang="en-US" sz="1100" b="1" kern="0" spc="300" dirty="0">
                <a:solidFill>
                  <a:srgbClr val="E62B67"/>
                </a:solidFill>
                <a:latin typeface="Arial Black" pitchFamily="34" charset="0"/>
                <a:ea typeface="Arial Black" pitchFamily="34" charset="-122"/>
                <a:cs typeface="Arial Black" pitchFamily="34" charset="-120"/>
              </a:rPr>
              <a:t>WHAT FMOH HAS BUILT</a:t>
            </a:r>
            <a:endParaRPr lang="en-US" sz="1100" dirty="0"/>
          </a:p>
        </p:txBody>
      </p:sp>
      <p:sp>
        <p:nvSpPr>
          <p:cNvPr id="7" name="Text 4"/>
          <p:cNvSpPr/>
          <p:nvPr/>
        </p:nvSpPr>
        <p:spPr>
          <a:xfrm>
            <a:off x="640080" y="3017520"/>
            <a:ext cx="5394960" cy="310896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National Guidelines on Safe Termination of Pregnancy for Legal Indications (2018) — recognising abortion as a legitimate medical intervention.</a:t>
            </a:r>
            <a:endParaRPr lang="en-US" sz="1100" dirty="0"/>
          </a:p>
          <a:p>
            <a:pPr marL="342900" indent="-3429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Nigeria Family Planning Blueprint (2020–2024) — emphasising reduction of unintended pregnancies as a national priority.</a:t>
            </a:r>
            <a:endParaRPr lang="en-US" sz="1100" dirty="0"/>
          </a:p>
          <a:p>
            <a:pPr marL="342900" indent="-3429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National Gender Policy (2021–2026) — mandating elimination of discrimination against women and advancing bodily autonomy.</a:t>
            </a:r>
            <a:endParaRPr lang="en-US" sz="1100" dirty="0"/>
          </a:p>
          <a:p>
            <a:pPr marL="342900" indent="-3429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FP2030 Commitment — ensuring equitable access to reproductive health services for all, including adolescents and vulnerable populations.</a:t>
            </a:r>
            <a:endParaRPr lang="en-US" sz="1100" dirty="0"/>
          </a:p>
          <a:p>
            <a:pPr marL="342900" indent="-3429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National Reproductive Health Policy (2017) — highlighting the reduction of unsafe abortion as a core strategic objective.</a:t>
            </a:r>
            <a:endParaRPr lang="en-US" sz="1100" dirty="0"/>
          </a:p>
        </p:txBody>
      </p:sp>
      <p:sp>
        <p:nvSpPr>
          <p:cNvPr id="8" name="Shape 5"/>
          <p:cNvSpPr/>
          <p:nvPr/>
        </p:nvSpPr>
        <p:spPr>
          <a:xfrm>
            <a:off x="6400800" y="2651760"/>
            <a:ext cx="5212080" cy="3520440"/>
          </a:xfrm>
          <a:prstGeom prst="rect">
            <a:avLst/>
          </a:prstGeom>
          <a:solidFill>
            <a:srgbClr val="49267A"/>
          </a:solidFill>
          <a:ln/>
        </p:spPr>
        <p:txBody>
          <a:bodyPr/>
          <a:lstStyle/>
          <a:p>
            <a:endParaRPr lang="en-US"/>
          </a:p>
        </p:txBody>
      </p:sp>
      <p:sp>
        <p:nvSpPr>
          <p:cNvPr id="9" name="Text 6"/>
          <p:cNvSpPr/>
          <p:nvPr/>
        </p:nvSpPr>
        <p:spPr>
          <a:xfrm>
            <a:off x="6675120" y="2788920"/>
            <a:ext cx="4937760" cy="274320"/>
          </a:xfrm>
          <a:prstGeom prst="rect">
            <a:avLst/>
          </a:prstGeom>
          <a:noFill/>
          <a:ln/>
        </p:spPr>
        <p:txBody>
          <a:bodyPr wrap="square" lIns="0" tIns="0" rIns="0" bIns="0" rtlCol="0" anchor="ctr"/>
          <a:lstStyle/>
          <a:p>
            <a:pPr marL="0" indent="0">
              <a:buNone/>
            </a:pPr>
            <a:r>
              <a:rPr lang="en-US" sz="1100" b="1" kern="0" spc="300" dirty="0">
                <a:solidFill>
                  <a:srgbClr val="F8C501"/>
                </a:solidFill>
                <a:latin typeface="Arial Black" pitchFamily="34" charset="0"/>
                <a:ea typeface="Arial Black" pitchFamily="34" charset="-122"/>
                <a:cs typeface="Arial Black" pitchFamily="34" charset="-120"/>
              </a:rPr>
              <a:t>WHAT THE CRIMINAL CODE DOES</a:t>
            </a:r>
            <a:endParaRPr lang="en-US" sz="1100" dirty="0"/>
          </a:p>
        </p:txBody>
      </p:sp>
      <p:sp>
        <p:nvSpPr>
          <p:cNvPr id="10" name="Text 7"/>
          <p:cNvSpPr/>
          <p:nvPr/>
        </p:nvSpPr>
        <p:spPr>
          <a:xfrm>
            <a:off x="6675120" y="3154680"/>
            <a:ext cx="4754880" cy="77724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Exposes health workers to arrest, investigation or prosecution — even when acting within accepted medical standards.</a:t>
            </a:r>
            <a:endParaRPr lang="en-US" sz="1200" dirty="0"/>
          </a:p>
        </p:txBody>
      </p:sp>
      <p:sp>
        <p:nvSpPr>
          <p:cNvPr id="11" name="Text 8"/>
          <p:cNvSpPr/>
          <p:nvPr/>
        </p:nvSpPr>
        <p:spPr>
          <a:xfrm>
            <a:off x="6675120" y="4023360"/>
            <a:ext cx="4754880" cy="91440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Creates a climate of fear among providers, discouraging timely interventions and undermining the implementation of national reproductive health guidelines.</a:t>
            </a:r>
            <a:endParaRPr lang="en-US" sz="1200" dirty="0"/>
          </a:p>
        </p:txBody>
      </p:sp>
      <p:sp>
        <p:nvSpPr>
          <p:cNvPr id="12" name="Text 9"/>
          <p:cNvSpPr/>
          <p:nvPr/>
        </p:nvSpPr>
        <p:spPr>
          <a:xfrm>
            <a:off x="6675120" y="5029200"/>
            <a:ext cx="4754880" cy="100584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Has produced documented cases of providers arrested or detained for alleged involvement in abortion-related procedures, even in medically complex situations.</a:t>
            </a:r>
            <a:endParaRPr lang="en-US" sz="1200" dirty="0"/>
          </a:p>
        </p:txBody>
      </p:sp>
      <p:sp>
        <p:nvSpPr>
          <p:cNvPr id="13" name="Text 10"/>
          <p:cNvSpPr/>
          <p:nvPr/>
        </p:nvSpPr>
        <p:spPr>
          <a:xfrm>
            <a:off x="6675120" y="5989320"/>
            <a:ext cx="4754880" cy="182880"/>
          </a:xfrm>
          <a:prstGeom prst="rect">
            <a:avLst/>
          </a:prstGeom>
          <a:noFill/>
          <a:ln/>
        </p:spPr>
        <p:txBody>
          <a:bodyPr wrap="square" lIns="0" tIns="0" rIns="0" bIns="0" rtlCol="0" anchor="ctr"/>
          <a:lstStyle/>
          <a:p>
            <a:pPr marL="0" indent="0">
              <a:buNone/>
            </a:pPr>
            <a:r>
              <a:rPr lang="en-US" sz="800" i="1" dirty="0">
                <a:solidFill>
                  <a:srgbClr val="F8C501"/>
                </a:solidFill>
                <a:latin typeface="Arial" pitchFamily="34" charset="0"/>
                <a:ea typeface="Arial" pitchFamily="34" charset="-122"/>
                <a:cs typeface="Arial" pitchFamily="34" charset="-120"/>
              </a:rPr>
              <a:t>Source: Punch Newspapers (2023), The Guardian Nigeria (2024).</a:t>
            </a:r>
            <a:endParaRPr lang="en-US" sz="800" dirty="0"/>
          </a:p>
        </p:txBody>
      </p:sp>
      <p:sp>
        <p:nvSpPr>
          <p:cNvPr id="14" name="Shape 11"/>
          <p:cNvSpPr/>
          <p:nvPr/>
        </p:nvSpPr>
        <p:spPr>
          <a:xfrm>
            <a:off x="0" y="6629400"/>
            <a:ext cx="12161520" cy="228600"/>
          </a:xfrm>
          <a:prstGeom prst="rect">
            <a:avLst/>
          </a:prstGeom>
          <a:solidFill>
            <a:srgbClr val="49267A"/>
          </a:solidFill>
          <a:ln/>
        </p:spPr>
        <p:txBody>
          <a:bodyPr/>
          <a:lstStyle/>
          <a:p>
            <a:endParaRPr lang="en-US"/>
          </a:p>
        </p:txBody>
      </p:sp>
      <p:sp>
        <p:nvSpPr>
          <p:cNvPr id="15" name="Text 12"/>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16" name="Text 13"/>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9 / 19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a:effectLst/>
      </p:bgPr>
    </p:bg>
    <p:spTree>
      <p:nvGrpSpPr>
        <p:cNvPr id="1" name=""/>
        <p:cNvGrpSpPr/>
        <p:nvPr/>
      </p:nvGrpSpPr>
      <p:grpSpPr>
        <a:xfrm>
          <a:off x="0" y="0"/>
          <a:ext cx="0" cy="0"/>
          <a:chOff x="0" y="0"/>
          <a:chExt cx="0" cy="0"/>
        </a:xfrm>
      </p:grpSpPr>
      <p:pic>
        <p:nvPicPr>
          <p:cNvPr id="2" name="Image 0" descr="/home/claude/work/pamoja_logo_white.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457200" y="-914400"/>
            <a:ext cx="4572000" cy="4572000"/>
          </a:xfrm>
          <a:prstGeom prst="rect">
            <a:avLst/>
          </a:prstGeom>
          <a:noFill/>
          <a:ln/>
        </p:spPr>
        <p:txBody>
          <a:bodyPr wrap="square" lIns="0" tIns="0" rIns="0" bIns="0" rtlCol="0" anchor="ctr"/>
          <a:lstStyle/>
          <a:p>
            <a:pPr marL="0" indent="0">
              <a:buNone/>
            </a:pPr>
            <a:r>
              <a:rPr lang="en-US" sz="38000" dirty="0">
                <a:solidFill>
                  <a:srgbClr val="E62B67">
                    <a:alpha val="25000"/>
                  </a:srgbClr>
                </a:solidFill>
                <a:latin typeface="Arial" pitchFamily="34" charset="0"/>
                <a:ea typeface="Arial" pitchFamily="34" charset="-122"/>
                <a:cs typeface="Arial" pitchFamily="34" charset="-120"/>
              </a:rPr>
              <a:t>✦</a:t>
            </a:r>
            <a:endParaRPr lang="en-US" sz="38000" dirty="0"/>
          </a:p>
        </p:txBody>
      </p:sp>
      <p:sp>
        <p:nvSpPr>
          <p:cNvPr id="4" name="Text 1"/>
          <p:cNvSpPr/>
          <p:nvPr/>
        </p:nvSpPr>
        <p:spPr>
          <a:xfrm>
            <a:off x="640080" y="2286000"/>
            <a:ext cx="4572000" cy="365760"/>
          </a:xfrm>
          <a:prstGeom prst="rect">
            <a:avLst/>
          </a:prstGeom>
          <a:noFill/>
          <a:ln/>
        </p:spPr>
        <p:txBody>
          <a:bodyPr wrap="square" lIns="0" tIns="0" rIns="0" bIns="0" rtlCol="0" anchor="ctr"/>
          <a:lstStyle/>
          <a:p>
            <a:pPr marL="0" indent="0">
              <a:buNone/>
            </a:pPr>
            <a:r>
              <a:rPr lang="en-US" sz="1200" b="1" kern="0" spc="600" dirty="0">
                <a:solidFill>
                  <a:srgbClr val="F8C501"/>
                </a:solidFill>
                <a:latin typeface="Arial" pitchFamily="34" charset="0"/>
                <a:ea typeface="Arial" pitchFamily="34" charset="-122"/>
                <a:cs typeface="Arial" pitchFamily="34" charset="-120"/>
              </a:rPr>
              <a:t>PART 03</a:t>
            </a:r>
            <a:endParaRPr lang="en-US" sz="1200" dirty="0"/>
          </a:p>
        </p:txBody>
      </p:sp>
      <p:sp>
        <p:nvSpPr>
          <p:cNvPr id="5" name="Text 2"/>
          <p:cNvSpPr/>
          <p:nvPr/>
        </p:nvSpPr>
        <p:spPr>
          <a:xfrm>
            <a:off x="640080" y="2743200"/>
            <a:ext cx="10972800" cy="1097280"/>
          </a:xfrm>
          <a:prstGeom prst="rect">
            <a:avLst/>
          </a:prstGeom>
          <a:noFill/>
          <a:ln/>
        </p:spPr>
        <p:txBody>
          <a:bodyPr wrap="square" lIns="0" tIns="0" rIns="0" bIns="0" rtlCol="0" anchor="ctr"/>
          <a:lstStyle/>
          <a:p>
            <a:pPr marL="0" indent="0">
              <a:buNone/>
            </a:pPr>
            <a:r>
              <a:rPr lang="en-US" sz="6400" b="1" kern="0" spc="-150" dirty="0">
                <a:solidFill>
                  <a:srgbClr val="FFFFFF"/>
                </a:solidFill>
                <a:latin typeface="Arial Black" pitchFamily="34" charset="0"/>
                <a:ea typeface="Arial Black" pitchFamily="34" charset="-122"/>
                <a:cs typeface="Arial Black" pitchFamily="34" charset="-120"/>
              </a:rPr>
              <a:t>The Human Cost</a:t>
            </a:r>
            <a:endParaRPr lang="en-US" sz="6400" dirty="0"/>
          </a:p>
        </p:txBody>
      </p:sp>
      <p:sp>
        <p:nvSpPr>
          <p:cNvPr id="6" name="Shape 3"/>
          <p:cNvSpPr/>
          <p:nvPr/>
        </p:nvSpPr>
        <p:spPr>
          <a:xfrm>
            <a:off x="640080" y="4023360"/>
            <a:ext cx="1097280" cy="0"/>
          </a:xfrm>
          <a:prstGeom prst="line">
            <a:avLst/>
          </a:prstGeom>
          <a:noFill/>
          <a:ln w="50800">
            <a:solidFill>
              <a:srgbClr val="F8C501"/>
            </a:solidFill>
            <a:prstDash val="solid"/>
          </a:ln>
        </p:spPr>
        <p:txBody>
          <a:bodyPr/>
          <a:lstStyle/>
          <a:p>
            <a:endParaRPr lang="en-US"/>
          </a:p>
        </p:txBody>
      </p:sp>
      <p:sp>
        <p:nvSpPr>
          <p:cNvPr id="7" name="Text 4"/>
          <p:cNvSpPr/>
          <p:nvPr/>
        </p:nvSpPr>
        <p:spPr>
          <a:xfrm>
            <a:off x="640080" y="4297680"/>
            <a:ext cx="9144000" cy="1280160"/>
          </a:xfrm>
          <a:prstGeom prst="rect">
            <a:avLst/>
          </a:prstGeom>
          <a:noFill/>
          <a:ln/>
        </p:spPr>
        <p:txBody>
          <a:bodyPr wrap="square" lIns="0" tIns="0" rIns="0" bIns="0" rtlCol="0" anchor="ctr"/>
          <a:lstStyle/>
          <a:p>
            <a:pPr marL="0" indent="0">
              <a:buNone/>
            </a:pPr>
            <a:r>
              <a:rPr lang="en-US" sz="1800" i="1" dirty="0">
                <a:solidFill>
                  <a:srgbClr val="FFFFFF"/>
                </a:solidFill>
                <a:latin typeface="Arial" pitchFamily="34" charset="0"/>
                <a:ea typeface="Arial" pitchFamily="34" charset="-122"/>
                <a:cs typeface="Arial" pitchFamily="34" charset="-120"/>
              </a:rPr>
              <a:t>These are not abstract numbers. Each one is a mother, daughter, student, farmer, or trader — a Nigerian woman or girl with dreams and responsibilities.</a:t>
            </a:r>
            <a:endParaRPr lang="en-US" sz="1800" dirty="0"/>
          </a:p>
        </p:txBody>
      </p:sp>
      <p:sp>
        <p:nvSpPr>
          <p:cNvPr id="8" name="Shape 5"/>
          <p:cNvSpPr/>
          <p:nvPr/>
        </p:nvSpPr>
        <p:spPr>
          <a:xfrm>
            <a:off x="0" y="6629400"/>
            <a:ext cx="12161520" cy="228600"/>
          </a:xfrm>
          <a:prstGeom prst="rect">
            <a:avLst/>
          </a:prstGeom>
          <a:solidFill>
            <a:srgbClr val="49267A"/>
          </a:solidFill>
          <a:ln/>
        </p:spPr>
        <p:txBody>
          <a:bodyPr/>
          <a:lstStyle/>
          <a:p>
            <a:endParaRPr lang="en-US"/>
          </a:p>
        </p:txBody>
      </p:sp>
      <p:sp>
        <p:nvSpPr>
          <p:cNvPr id="9" name="Text 6"/>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10" name="Text 7"/>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10 / 19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03.1</a:t>
            </a:r>
            <a:endParaRPr lang="en-US" sz="2400" dirty="0"/>
          </a:p>
        </p:txBody>
      </p:sp>
      <p:sp>
        <p:nvSpPr>
          <p:cNvPr id="4" name="Text 1"/>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LIVED EXPERIENCES</a:t>
            </a:r>
            <a:endParaRPr lang="en-US" sz="1100" dirty="0"/>
          </a:p>
        </p:txBody>
      </p:sp>
      <p:sp>
        <p:nvSpPr>
          <p:cNvPr id="5" name="Text 2"/>
          <p:cNvSpPr/>
          <p:nvPr/>
        </p:nvSpPr>
        <p:spPr>
          <a:xfrm>
            <a:off x="640080" y="1097280"/>
            <a:ext cx="10972800" cy="914400"/>
          </a:xfrm>
          <a:prstGeom prst="rect">
            <a:avLst/>
          </a:prstGeom>
          <a:noFill/>
          <a:ln/>
        </p:spPr>
        <p:txBody>
          <a:bodyPr wrap="square" lIns="0" tIns="0" rIns="0" bIns="0" rtlCol="0" anchor="ctr"/>
          <a:lstStyle/>
          <a:p>
            <a:pPr marL="0" indent="0">
              <a:buNone/>
            </a:pPr>
            <a:r>
              <a:rPr lang="en-US" sz="3200" b="1" kern="0" spc="-50" dirty="0">
                <a:solidFill>
                  <a:srgbClr val="49267A"/>
                </a:solidFill>
                <a:latin typeface="Arial Black" pitchFamily="34" charset="0"/>
                <a:ea typeface="Arial Black" pitchFamily="34" charset="-122"/>
                <a:cs typeface="Arial Black" pitchFamily="34" charset="-120"/>
              </a:rPr>
              <a:t>Every statistic has a story.</a:t>
            </a:r>
            <a:endParaRPr lang="en-US" sz="3200" dirty="0"/>
          </a:p>
        </p:txBody>
      </p:sp>
      <p:sp>
        <p:nvSpPr>
          <p:cNvPr id="6" name="Shape 3"/>
          <p:cNvSpPr/>
          <p:nvPr/>
        </p:nvSpPr>
        <p:spPr>
          <a:xfrm>
            <a:off x="640080" y="2286000"/>
            <a:ext cx="10972800" cy="1280160"/>
          </a:xfrm>
          <a:prstGeom prst="rect">
            <a:avLst/>
          </a:prstGeom>
          <a:solidFill>
            <a:srgbClr val="FBF7F2"/>
          </a:solidFill>
          <a:ln/>
        </p:spPr>
        <p:txBody>
          <a:bodyPr/>
          <a:lstStyle/>
          <a:p>
            <a:endParaRPr lang="en-US"/>
          </a:p>
        </p:txBody>
      </p:sp>
      <p:sp>
        <p:nvSpPr>
          <p:cNvPr id="7" name="Text 4"/>
          <p:cNvSpPr/>
          <p:nvPr/>
        </p:nvSpPr>
        <p:spPr>
          <a:xfrm>
            <a:off x="777240" y="2194560"/>
            <a:ext cx="914400" cy="914400"/>
          </a:xfrm>
          <a:prstGeom prst="rect">
            <a:avLst/>
          </a:prstGeom>
          <a:noFill/>
          <a:ln/>
        </p:spPr>
        <p:txBody>
          <a:bodyPr wrap="square" lIns="0" tIns="0" rIns="0" bIns="0" rtlCol="0" anchor="ctr"/>
          <a:lstStyle/>
          <a:p>
            <a:pPr marL="0" indent="0">
              <a:buNone/>
            </a:pPr>
            <a:r>
              <a:rPr lang="en-US" sz="7000" b="1" dirty="0">
                <a:solidFill>
                  <a:srgbClr val="E62B67"/>
                </a:solidFill>
                <a:latin typeface="Georgia" pitchFamily="34" charset="0"/>
                <a:ea typeface="Georgia" pitchFamily="34" charset="-122"/>
                <a:cs typeface="Georgia" pitchFamily="34" charset="-120"/>
              </a:rPr>
              <a:t>“</a:t>
            </a:r>
            <a:endParaRPr lang="en-US" sz="7000" dirty="0"/>
          </a:p>
        </p:txBody>
      </p:sp>
      <p:sp>
        <p:nvSpPr>
          <p:cNvPr id="8" name="Text 5"/>
          <p:cNvSpPr/>
          <p:nvPr/>
        </p:nvSpPr>
        <p:spPr>
          <a:xfrm>
            <a:off x="1463040" y="2423160"/>
            <a:ext cx="9875520" cy="1005840"/>
          </a:xfrm>
          <a:prstGeom prst="rect">
            <a:avLst/>
          </a:prstGeom>
          <a:noFill/>
          <a:ln/>
        </p:spPr>
        <p:txBody>
          <a:bodyPr wrap="square" lIns="0" tIns="0" rIns="0" bIns="0" rtlCol="0" anchor="ctr"/>
          <a:lstStyle/>
          <a:p>
            <a:pPr marL="0" indent="0">
              <a:buNone/>
            </a:pPr>
            <a:r>
              <a:rPr lang="en-US" sz="1400" i="1" dirty="0">
                <a:solidFill>
                  <a:srgbClr val="49267A"/>
                </a:solidFill>
                <a:latin typeface="Arial" pitchFamily="34" charset="0"/>
                <a:ea typeface="Arial" pitchFamily="34" charset="-122"/>
                <a:cs typeface="Arial" pitchFamily="34" charset="-120"/>
              </a:rPr>
              <a:t>Survivors describe being driven to unregulated providers where procedures were carried out without anaesthesia, proper equipment, or medical oversight — suffering life-threatening infections, internal injuries, or prolonged bleeding before seeking help.</a:t>
            </a:r>
            <a:endParaRPr lang="en-US" sz="1400" dirty="0"/>
          </a:p>
        </p:txBody>
      </p:sp>
      <p:sp>
        <p:nvSpPr>
          <p:cNvPr id="9" name="Text 6"/>
          <p:cNvSpPr/>
          <p:nvPr/>
        </p:nvSpPr>
        <p:spPr>
          <a:xfrm>
            <a:off x="640080" y="3749040"/>
            <a:ext cx="10972800" cy="274320"/>
          </a:xfrm>
          <a:prstGeom prst="rect">
            <a:avLst/>
          </a:prstGeom>
          <a:noFill/>
          <a:ln/>
        </p:spPr>
        <p:txBody>
          <a:bodyPr wrap="square" lIns="0" tIns="0" rIns="0" bIns="0" rtlCol="0" anchor="ctr"/>
          <a:lstStyle/>
          <a:p>
            <a:pPr marL="0" indent="0">
              <a:buNone/>
            </a:pPr>
            <a:r>
              <a:rPr lang="en-US" sz="1100" b="1" kern="0" spc="300" dirty="0">
                <a:solidFill>
                  <a:srgbClr val="E62B67"/>
                </a:solidFill>
                <a:latin typeface="Arial Black" pitchFamily="34" charset="0"/>
                <a:ea typeface="Arial Black" pitchFamily="34" charset="-122"/>
                <a:cs typeface="Arial Black" pitchFamily="34" charset="-120"/>
              </a:rPr>
              <a:t>THE PATTERNS THAT EMERGE</a:t>
            </a:r>
            <a:endParaRPr lang="en-US" sz="1100" dirty="0"/>
          </a:p>
        </p:txBody>
      </p:sp>
      <p:sp>
        <p:nvSpPr>
          <p:cNvPr id="10" name="Shape 7"/>
          <p:cNvSpPr/>
          <p:nvPr/>
        </p:nvSpPr>
        <p:spPr>
          <a:xfrm>
            <a:off x="640080" y="4160520"/>
            <a:ext cx="320040" cy="320040"/>
          </a:xfrm>
          <a:prstGeom prst="ellipse">
            <a:avLst/>
          </a:prstGeom>
          <a:solidFill>
            <a:srgbClr val="E62B67"/>
          </a:solidFill>
          <a:ln/>
        </p:spPr>
        <p:txBody>
          <a:bodyPr/>
          <a:lstStyle/>
          <a:p>
            <a:endParaRPr lang="en-US"/>
          </a:p>
        </p:txBody>
      </p:sp>
      <p:sp>
        <p:nvSpPr>
          <p:cNvPr id="11" name="Text 8"/>
          <p:cNvSpPr/>
          <p:nvPr/>
        </p:nvSpPr>
        <p:spPr>
          <a:xfrm>
            <a:off x="640080" y="416052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a:t>
            </a:r>
            <a:endParaRPr lang="en-US" sz="1100" dirty="0"/>
          </a:p>
        </p:txBody>
      </p:sp>
      <p:sp>
        <p:nvSpPr>
          <p:cNvPr id="12" name="Text 9"/>
          <p:cNvSpPr/>
          <p:nvPr/>
        </p:nvSpPr>
        <p:spPr>
          <a:xfrm>
            <a:off x="1097280" y="4114800"/>
            <a:ext cx="4937760" cy="640080"/>
          </a:xfrm>
          <a:prstGeom prst="rect">
            <a:avLst/>
          </a:prstGeom>
          <a:noFill/>
          <a:ln/>
        </p:spPr>
        <p:txBody>
          <a:bodyPr wrap="square" lIns="0" tIns="0" rIns="0" bIns="0" rtlCol="0" anchor="ctr"/>
          <a:lstStyle/>
          <a:p>
            <a:pPr marL="0" indent="0">
              <a:buNone/>
            </a:pPr>
            <a:r>
              <a:rPr lang="en-US" sz="1200" b="1" dirty="0">
                <a:solidFill>
                  <a:srgbClr val="49267A"/>
                </a:solidFill>
                <a:latin typeface="Arial" pitchFamily="34" charset="0"/>
                <a:ea typeface="Arial" pitchFamily="34" charset="-122"/>
                <a:cs typeface="Arial" pitchFamily="34" charset="-120"/>
              </a:rPr>
              <a:t>Lack of access </a:t>
            </a:r>
            <a:r>
              <a:rPr lang="en-US" sz="1200" dirty="0">
                <a:solidFill>
                  <a:srgbClr val="3A3A3A"/>
                </a:solidFill>
                <a:latin typeface="Arial" pitchFamily="34" charset="0"/>
                <a:ea typeface="Arial" pitchFamily="34" charset="-122"/>
                <a:cs typeface="Arial" pitchFamily="34" charset="-120"/>
              </a:rPr>
              <a:t>to contraception due to cost, stigma, or partner opposition.</a:t>
            </a:r>
            <a:endParaRPr lang="en-US" sz="1200" dirty="0"/>
          </a:p>
        </p:txBody>
      </p:sp>
      <p:sp>
        <p:nvSpPr>
          <p:cNvPr id="13" name="Shape 10"/>
          <p:cNvSpPr/>
          <p:nvPr/>
        </p:nvSpPr>
        <p:spPr>
          <a:xfrm>
            <a:off x="6217920" y="4160520"/>
            <a:ext cx="320040" cy="320040"/>
          </a:xfrm>
          <a:prstGeom prst="ellipse">
            <a:avLst/>
          </a:prstGeom>
          <a:solidFill>
            <a:srgbClr val="E62B67"/>
          </a:solidFill>
          <a:ln/>
        </p:spPr>
        <p:txBody>
          <a:bodyPr/>
          <a:lstStyle/>
          <a:p>
            <a:endParaRPr lang="en-US"/>
          </a:p>
        </p:txBody>
      </p:sp>
      <p:sp>
        <p:nvSpPr>
          <p:cNvPr id="14" name="Text 11"/>
          <p:cNvSpPr/>
          <p:nvPr/>
        </p:nvSpPr>
        <p:spPr>
          <a:xfrm>
            <a:off x="6217920" y="416052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2</a:t>
            </a:r>
            <a:endParaRPr lang="en-US" sz="1100" dirty="0"/>
          </a:p>
        </p:txBody>
      </p:sp>
      <p:sp>
        <p:nvSpPr>
          <p:cNvPr id="15" name="Text 12"/>
          <p:cNvSpPr/>
          <p:nvPr/>
        </p:nvSpPr>
        <p:spPr>
          <a:xfrm>
            <a:off x="6675120" y="4114800"/>
            <a:ext cx="4937760" cy="640080"/>
          </a:xfrm>
          <a:prstGeom prst="rect">
            <a:avLst/>
          </a:prstGeom>
          <a:noFill/>
          <a:ln/>
        </p:spPr>
        <p:txBody>
          <a:bodyPr wrap="square" lIns="0" tIns="0" rIns="0" bIns="0" rtlCol="0" anchor="ctr"/>
          <a:lstStyle/>
          <a:p>
            <a:pPr marL="0" indent="0">
              <a:buNone/>
            </a:pPr>
            <a:r>
              <a:rPr lang="en-US" sz="1200" b="1" dirty="0">
                <a:solidFill>
                  <a:srgbClr val="49267A"/>
                </a:solidFill>
                <a:latin typeface="Arial" pitchFamily="34" charset="0"/>
                <a:ea typeface="Arial" pitchFamily="34" charset="-122"/>
                <a:cs typeface="Arial" pitchFamily="34" charset="-120"/>
              </a:rPr>
              <a:t>Fear of prosecution </a:t>
            </a:r>
            <a:r>
              <a:rPr lang="en-US" sz="1200" dirty="0">
                <a:solidFill>
                  <a:srgbClr val="3A3A3A"/>
                </a:solidFill>
                <a:latin typeface="Arial" pitchFamily="34" charset="0"/>
                <a:ea typeface="Arial" pitchFamily="34" charset="-122"/>
                <a:cs typeface="Arial" pitchFamily="34" charset="-120"/>
              </a:rPr>
              <a:t>preventing women from seeking safe care.</a:t>
            </a:r>
            <a:endParaRPr lang="en-US" sz="1200" dirty="0"/>
          </a:p>
        </p:txBody>
      </p:sp>
      <p:sp>
        <p:nvSpPr>
          <p:cNvPr id="16" name="Shape 13"/>
          <p:cNvSpPr/>
          <p:nvPr/>
        </p:nvSpPr>
        <p:spPr>
          <a:xfrm>
            <a:off x="640080" y="4892040"/>
            <a:ext cx="320040" cy="320040"/>
          </a:xfrm>
          <a:prstGeom prst="ellipse">
            <a:avLst/>
          </a:prstGeom>
          <a:solidFill>
            <a:srgbClr val="E62B67"/>
          </a:solidFill>
          <a:ln/>
        </p:spPr>
        <p:txBody>
          <a:bodyPr/>
          <a:lstStyle/>
          <a:p>
            <a:endParaRPr lang="en-US"/>
          </a:p>
        </p:txBody>
      </p:sp>
      <p:sp>
        <p:nvSpPr>
          <p:cNvPr id="17" name="Text 14"/>
          <p:cNvSpPr/>
          <p:nvPr/>
        </p:nvSpPr>
        <p:spPr>
          <a:xfrm>
            <a:off x="640080" y="489204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3</a:t>
            </a:r>
            <a:endParaRPr lang="en-US" sz="1100" dirty="0"/>
          </a:p>
        </p:txBody>
      </p:sp>
      <p:sp>
        <p:nvSpPr>
          <p:cNvPr id="18" name="Text 15"/>
          <p:cNvSpPr/>
          <p:nvPr/>
        </p:nvSpPr>
        <p:spPr>
          <a:xfrm>
            <a:off x="1097280" y="4846320"/>
            <a:ext cx="4937760" cy="640080"/>
          </a:xfrm>
          <a:prstGeom prst="rect">
            <a:avLst/>
          </a:prstGeom>
          <a:noFill/>
          <a:ln/>
        </p:spPr>
        <p:txBody>
          <a:bodyPr wrap="square" lIns="0" tIns="0" rIns="0" bIns="0" rtlCol="0" anchor="ctr"/>
          <a:lstStyle/>
          <a:p>
            <a:pPr marL="0" indent="0">
              <a:buNone/>
            </a:pPr>
            <a:r>
              <a:rPr lang="en-US" sz="1200" b="1" dirty="0">
                <a:solidFill>
                  <a:srgbClr val="49267A"/>
                </a:solidFill>
                <a:latin typeface="Arial" pitchFamily="34" charset="0"/>
                <a:ea typeface="Arial" pitchFamily="34" charset="-122"/>
                <a:cs typeface="Arial" pitchFamily="34" charset="-120"/>
              </a:rPr>
              <a:t>Sexual violence </a:t>
            </a:r>
            <a:r>
              <a:rPr lang="en-US" sz="1200" dirty="0">
                <a:solidFill>
                  <a:srgbClr val="3A3A3A"/>
                </a:solidFill>
                <a:latin typeface="Arial" pitchFamily="34" charset="0"/>
                <a:ea typeface="Arial" pitchFamily="34" charset="-122"/>
                <a:cs typeface="Arial" pitchFamily="34" charset="-120"/>
              </a:rPr>
              <a:t>common across Nigeria, leaving young girls pregnant and unsupported.</a:t>
            </a:r>
            <a:endParaRPr lang="en-US" sz="1200" dirty="0"/>
          </a:p>
        </p:txBody>
      </p:sp>
      <p:sp>
        <p:nvSpPr>
          <p:cNvPr id="19" name="Shape 16"/>
          <p:cNvSpPr/>
          <p:nvPr/>
        </p:nvSpPr>
        <p:spPr>
          <a:xfrm>
            <a:off x="6217920" y="4892040"/>
            <a:ext cx="320040" cy="320040"/>
          </a:xfrm>
          <a:prstGeom prst="ellipse">
            <a:avLst/>
          </a:prstGeom>
          <a:solidFill>
            <a:srgbClr val="E62B67"/>
          </a:solidFill>
          <a:ln/>
        </p:spPr>
        <p:txBody>
          <a:bodyPr/>
          <a:lstStyle/>
          <a:p>
            <a:endParaRPr lang="en-US"/>
          </a:p>
        </p:txBody>
      </p:sp>
      <p:sp>
        <p:nvSpPr>
          <p:cNvPr id="20" name="Text 17"/>
          <p:cNvSpPr/>
          <p:nvPr/>
        </p:nvSpPr>
        <p:spPr>
          <a:xfrm>
            <a:off x="6217920" y="489204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4</a:t>
            </a:r>
            <a:endParaRPr lang="en-US" sz="1100" dirty="0"/>
          </a:p>
        </p:txBody>
      </p:sp>
      <p:sp>
        <p:nvSpPr>
          <p:cNvPr id="21" name="Text 18"/>
          <p:cNvSpPr/>
          <p:nvPr/>
        </p:nvSpPr>
        <p:spPr>
          <a:xfrm>
            <a:off x="6675120" y="4846320"/>
            <a:ext cx="4937760" cy="640080"/>
          </a:xfrm>
          <a:prstGeom prst="rect">
            <a:avLst/>
          </a:prstGeom>
          <a:noFill/>
          <a:ln/>
        </p:spPr>
        <p:txBody>
          <a:bodyPr wrap="square" lIns="0" tIns="0" rIns="0" bIns="0" rtlCol="0" anchor="ctr"/>
          <a:lstStyle/>
          <a:p>
            <a:pPr marL="0" indent="0">
              <a:buNone/>
            </a:pPr>
            <a:r>
              <a:rPr lang="en-US" sz="1200" b="1" dirty="0">
                <a:solidFill>
                  <a:srgbClr val="49267A"/>
                </a:solidFill>
                <a:latin typeface="Arial" pitchFamily="34" charset="0"/>
                <a:ea typeface="Arial" pitchFamily="34" charset="-122"/>
                <a:cs typeface="Arial" pitchFamily="34" charset="-120"/>
              </a:rPr>
              <a:t>Economic hardship </a:t>
            </a:r>
            <a:r>
              <a:rPr lang="en-US" sz="1200" dirty="0">
                <a:solidFill>
                  <a:srgbClr val="3A3A3A"/>
                </a:solidFill>
                <a:latin typeface="Arial" pitchFamily="34" charset="0"/>
                <a:ea typeface="Arial" pitchFamily="34" charset="-122"/>
                <a:cs typeface="Arial" pitchFamily="34" charset="-120"/>
              </a:rPr>
              <a:t>forcing married women into clandestine abortions.</a:t>
            </a:r>
            <a:endParaRPr lang="en-US" sz="1200" dirty="0"/>
          </a:p>
        </p:txBody>
      </p:sp>
      <p:sp>
        <p:nvSpPr>
          <p:cNvPr id="22" name="Shape 19"/>
          <p:cNvSpPr/>
          <p:nvPr/>
        </p:nvSpPr>
        <p:spPr>
          <a:xfrm>
            <a:off x="640080" y="5623560"/>
            <a:ext cx="320040" cy="320040"/>
          </a:xfrm>
          <a:prstGeom prst="ellipse">
            <a:avLst/>
          </a:prstGeom>
          <a:solidFill>
            <a:srgbClr val="E62B67"/>
          </a:solidFill>
          <a:ln/>
        </p:spPr>
        <p:txBody>
          <a:bodyPr/>
          <a:lstStyle/>
          <a:p>
            <a:endParaRPr lang="en-US"/>
          </a:p>
        </p:txBody>
      </p:sp>
      <p:sp>
        <p:nvSpPr>
          <p:cNvPr id="23" name="Text 20"/>
          <p:cNvSpPr/>
          <p:nvPr/>
        </p:nvSpPr>
        <p:spPr>
          <a:xfrm>
            <a:off x="640080" y="562356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5</a:t>
            </a:r>
            <a:endParaRPr lang="en-US" sz="1100" dirty="0"/>
          </a:p>
        </p:txBody>
      </p:sp>
      <p:sp>
        <p:nvSpPr>
          <p:cNvPr id="24" name="Text 21"/>
          <p:cNvSpPr/>
          <p:nvPr/>
        </p:nvSpPr>
        <p:spPr>
          <a:xfrm>
            <a:off x="1097280" y="5577840"/>
            <a:ext cx="4937760" cy="640080"/>
          </a:xfrm>
          <a:prstGeom prst="rect">
            <a:avLst/>
          </a:prstGeom>
          <a:noFill/>
          <a:ln/>
        </p:spPr>
        <p:txBody>
          <a:bodyPr wrap="square" lIns="0" tIns="0" rIns="0" bIns="0" rtlCol="0" anchor="ctr"/>
          <a:lstStyle/>
          <a:p>
            <a:pPr marL="0" indent="0">
              <a:buNone/>
            </a:pPr>
            <a:r>
              <a:rPr lang="en-US" sz="1200" b="1" dirty="0">
                <a:solidFill>
                  <a:srgbClr val="49267A"/>
                </a:solidFill>
                <a:latin typeface="Arial" pitchFamily="34" charset="0"/>
                <a:ea typeface="Arial" pitchFamily="34" charset="-122"/>
                <a:cs typeface="Arial" pitchFamily="34" charset="-120"/>
              </a:rPr>
              <a:t>Deadly improvisation </a:t>
            </a:r>
            <a:r>
              <a:rPr lang="en-US" sz="1200" dirty="0">
                <a:solidFill>
                  <a:srgbClr val="3A3A3A"/>
                </a:solidFill>
                <a:latin typeface="Arial" pitchFamily="34" charset="0"/>
                <a:ea typeface="Arial" pitchFamily="34" charset="-122"/>
                <a:cs typeface="Arial" pitchFamily="34" charset="-120"/>
              </a:rPr>
              <a:t>by untrained providers — sepsis, haemorrhage, infertility.</a:t>
            </a:r>
            <a:endParaRPr lang="en-US" sz="1200" dirty="0"/>
          </a:p>
        </p:txBody>
      </p:sp>
      <p:sp>
        <p:nvSpPr>
          <p:cNvPr id="25" name="Text 22"/>
          <p:cNvSpPr/>
          <p:nvPr/>
        </p:nvSpPr>
        <p:spPr>
          <a:xfrm>
            <a:off x="640080" y="6126480"/>
            <a:ext cx="10972800" cy="274320"/>
          </a:xfrm>
          <a:prstGeom prst="rect">
            <a:avLst/>
          </a:prstGeom>
          <a:noFill/>
          <a:ln/>
        </p:spPr>
        <p:txBody>
          <a:bodyPr wrap="square" lIns="0" tIns="0" rIns="0" bIns="0" rtlCol="0" anchor="ctr"/>
          <a:lstStyle/>
          <a:p>
            <a:pPr marL="0" indent="0">
              <a:buNone/>
            </a:pPr>
            <a:r>
              <a:rPr lang="en-US" sz="900" i="1" dirty="0">
                <a:solidFill>
                  <a:srgbClr val="8B8B8B"/>
                </a:solidFill>
                <a:latin typeface="Arial" pitchFamily="34" charset="0"/>
                <a:ea typeface="Arial" pitchFamily="34" charset="-122"/>
                <a:cs typeface="Arial" pitchFamily="34" charset="-120"/>
              </a:rPr>
              <a:t>Source: ICIR (2025), The Guardian Nigeria (2024).</a:t>
            </a:r>
            <a:endParaRPr lang="en-US" sz="900" dirty="0"/>
          </a:p>
        </p:txBody>
      </p:sp>
      <p:sp>
        <p:nvSpPr>
          <p:cNvPr id="26" name="Shape 23"/>
          <p:cNvSpPr/>
          <p:nvPr/>
        </p:nvSpPr>
        <p:spPr>
          <a:xfrm>
            <a:off x="0" y="6629400"/>
            <a:ext cx="12161520" cy="228600"/>
          </a:xfrm>
          <a:prstGeom prst="rect">
            <a:avLst/>
          </a:prstGeom>
          <a:solidFill>
            <a:srgbClr val="49267A"/>
          </a:solidFill>
          <a:ln/>
        </p:spPr>
        <p:txBody>
          <a:bodyPr/>
          <a:lstStyle/>
          <a:p>
            <a:endParaRPr lang="en-US"/>
          </a:p>
        </p:txBody>
      </p:sp>
      <p:sp>
        <p:nvSpPr>
          <p:cNvPr id="27" name="Text 24"/>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8" name="Text 25"/>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11 / 19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03.2</a:t>
            </a:r>
            <a:endParaRPr lang="en-US" sz="2400" dirty="0"/>
          </a:p>
        </p:txBody>
      </p:sp>
      <p:sp>
        <p:nvSpPr>
          <p:cNvPr id="4" name="Text 1"/>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EXPERT CONSENSUS</a:t>
            </a:r>
            <a:endParaRPr lang="en-US" sz="1100" dirty="0"/>
          </a:p>
        </p:txBody>
      </p:sp>
      <p:sp>
        <p:nvSpPr>
          <p:cNvPr id="5" name="Text 2"/>
          <p:cNvSpPr/>
          <p:nvPr/>
        </p:nvSpPr>
        <p:spPr>
          <a:xfrm>
            <a:off x="640080" y="1097280"/>
            <a:ext cx="10972800" cy="914400"/>
          </a:xfrm>
          <a:prstGeom prst="rect">
            <a:avLst/>
          </a:prstGeom>
          <a:noFill/>
          <a:ln/>
        </p:spPr>
        <p:txBody>
          <a:bodyPr wrap="square" lIns="0" tIns="0" rIns="0" bIns="0" rtlCol="0" anchor="ctr"/>
          <a:lstStyle/>
          <a:p>
            <a:pPr marL="0" indent="0">
              <a:buNone/>
            </a:pPr>
            <a:r>
              <a:rPr lang="en-US" sz="3000" b="1" kern="0" spc="-50" dirty="0">
                <a:solidFill>
                  <a:srgbClr val="49267A"/>
                </a:solidFill>
                <a:latin typeface="Arial Black" pitchFamily="34" charset="0"/>
                <a:ea typeface="Arial Black" pitchFamily="34" charset="-122"/>
                <a:cs typeface="Arial Black" pitchFamily="34" charset="-120"/>
              </a:rPr>
              <a:t>The professional community is unified.</a:t>
            </a:r>
            <a:endParaRPr lang="en-US" sz="3000" dirty="0"/>
          </a:p>
        </p:txBody>
      </p:sp>
      <p:sp>
        <p:nvSpPr>
          <p:cNvPr id="6" name="Text 3"/>
          <p:cNvSpPr/>
          <p:nvPr/>
        </p:nvSpPr>
        <p:spPr>
          <a:xfrm>
            <a:off x="640080" y="2194560"/>
            <a:ext cx="10972800" cy="91440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A broad consensus exists among leading professionals in obstetrics, public health, and reproductive health policy in Nigeria: the country's restrictive abortion laws are endangering lives and urgently require reform.</a:t>
            </a:r>
            <a:endParaRPr lang="en-US" sz="1400" dirty="0"/>
          </a:p>
        </p:txBody>
      </p:sp>
      <p:sp>
        <p:nvSpPr>
          <p:cNvPr id="7" name="Shape 4"/>
          <p:cNvSpPr/>
          <p:nvPr/>
        </p:nvSpPr>
        <p:spPr>
          <a:xfrm>
            <a:off x="640080" y="3383280"/>
            <a:ext cx="10972800" cy="868680"/>
          </a:xfrm>
          <a:prstGeom prst="rect">
            <a:avLst/>
          </a:prstGeom>
          <a:solidFill>
            <a:srgbClr val="FBF7F2"/>
          </a:solidFill>
          <a:ln/>
        </p:spPr>
        <p:txBody>
          <a:bodyPr/>
          <a:lstStyle/>
          <a:p>
            <a:endParaRPr lang="en-US"/>
          </a:p>
        </p:txBody>
      </p:sp>
      <p:sp>
        <p:nvSpPr>
          <p:cNvPr id="8" name="Shape 5"/>
          <p:cNvSpPr/>
          <p:nvPr/>
        </p:nvSpPr>
        <p:spPr>
          <a:xfrm>
            <a:off x="868680" y="3566160"/>
            <a:ext cx="502920" cy="502920"/>
          </a:xfrm>
          <a:prstGeom prst="ellipse">
            <a:avLst/>
          </a:prstGeom>
          <a:solidFill>
            <a:srgbClr val="E62B67"/>
          </a:solidFill>
          <a:ln/>
        </p:spPr>
        <p:txBody>
          <a:bodyPr/>
          <a:lstStyle/>
          <a:p>
            <a:endParaRPr lang="en-US"/>
          </a:p>
        </p:txBody>
      </p:sp>
      <p:sp>
        <p:nvSpPr>
          <p:cNvPr id="9" name="Text 6"/>
          <p:cNvSpPr/>
          <p:nvPr/>
        </p:nvSpPr>
        <p:spPr>
          <a:xfrm>
            <a:off x="868680" y="35661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10" name="Text 7"/>
          <p:cNvSpPr/>
          <p:nvPr/>
        </p:nvSpPr>
        <p:spPr>
          <a:xfrm>
            <a:off x="1554480" y="3493008"/>
            <a:ext cx="9784080" cy="320040"/>
          </a:xfrm>
          <a:prstGeom prst="rect">
            <a:avLst/>
          </a:prstGeom>
          <a:noFill/>
          <a:ln/>
        </p:spPr>
        <p:txBody>
          <a:bodyPr wrap="square" lIns="0" tIns="0" rIns="0" bIns="0" rtlCol="0" anchor="ctr"/>
          <a:lstStyle/>
          <a:p>
            <a:pPr marL="0" indent="0">
              <a:buNone/>
            </a:pPr>
            <a:r>
              <a:rPr lang="en-US" sz="1200" b="1" kern="0" spc="150" dirty="0">
                <a:solidFill>
                  <a:srgbClr val="49267A"/>
                </a:solidFill>
                <a:latin typeface="Arial Black" pitchFamily="34" charset="0"/>
                <a:ea typeface="Arial Black" pitchFamily="34" charset="-122"/>
                <a:cs typeface="Arial Black" pitchFamily="34" charset="-120"/>
              </a:rPr>
              <a:t>MOST DEATHS ARE PREVENTABLE</a:t>
            </a:r>
            <a:endParaRPr lang="en-US" sz="1200" dirty="0"/>
          </a:p>
        </p:txBody>
      </p:sp>
      <p:sp>
        <p:nvSpPr>
          <p:cNvPr id="11" name="Text 8"/>
          <p:cNvSpPr/>
          <p:nvPr/>
        </p:nvSpPr>
        <p:spPr>
          <a:xfrm>
            <a:off x="1554480" y="3794760"/>
            <a:ext cx="9784080" cy="411480"/>
          </a:xfrm>
          <a:prstGeom prst="rect">
            <a:avLst/>
          </a:prstGeom>
          <a:noFill/>
          <a:ln/>
        </p:spPr>
        <p:txBody>
          <a:bodyPr wrap="square" lIns="0" tIns="0" rIns="0" bIns="0" rtlCol="0" anchor="ctr"/>
          <a:lstStyle/>
          <a:p>
            <a:pPr marL="0" indent="0">
              <a:buNone/>
            </a:pPr>
            <a:r>
              <a:rPr lang="en-US" sz="1100" dirty="0">
                <a:solidFill>
                  <a:srgbClr val="3A3A3A"/>
                </a:solidFill>
                <a:latin typeface="Arial" pitchFamily="34" charset="0"/>
                <a:ea typeface="Arial" pitchFamily="34" charset="-122"/>
                <a:cs typeface="Arial" pitchFamily="34" charset="-120"/>
              </a:rPr>
              <a:t>Most deaths and complications linked to unsafe abortion would decline sharply if safe, regulated services were legally accessible.</a:t>
            </a:r>
            <a:endParaRPr lang="en-US" sz="1100" dirty="0"/>
          </a:p>
        </p:txBody>
      </p:sp>
      <p:sp>
        <p:nvSpPr>
          <p:cNvPr id="12" name="Shape 9"/>
          <p:cNvSpPr/>
          <p:nvPr/>
        </p:nvSpPr>
        <p:spPr>
          <a:xfrm>
            <a:off x="640080" y="4343400"/>
            <a:ext cx="10972800" cy="868680"/>
          </a:xfrm>
          <a:prstGeom prst="rect">
            <a:avLst/>
          </a:prstGeom>
          <a:solidFill>
            <a:srgbClr val="FBF7F2"/>
          </a:solidFill>
          <a:ln/>
        </p:spPr>
        <p:txBody>
          <a:bodyPr/>
          <a:lstStyle/>
          <a:p>
            <a:endParaRPr lang="en-US"/>
          </a:p>
        </p:txBody>
      </p:sp>
      <p:sp>
        <p:nvSpPr>
          <p:cNvPr id="13" name="Shape 10"/>
          <p:cNvSpPr/>
          <p:nvPr/>
        </p:nvSpPr>
        <p:spPr>
          <a:xfrm>
            <a:off x="868680" y="4526280"/>
            <a:ext cx="502920" cy="502920"/>
          </a:xfrm>
          <a:prstGeom prst="ellipse">
            <a:avLst/>
          </a:prstGeom>
          <a:solidFill>
            <a:srgbClr val="E62B67"/>
          </a:solidFill>
          <a:ln/>
        </p:spPr>
        <p:txBody>
          <a:bodyPr/>
          <a:lstStyle/>
          <a:p>
            <a:endParaRPr lang="en-US"/>
          </a:p>
        </p:txBody>
      </p:sp>
      <p:sp>
        <p:nvSpPr>
          <p:cNvPr id="14" name="Text 11"/>
          <p:cNvSpPr/>
          <p:nvPr/>
        </p:nvSpPr>
        <p:spPr>
          <a:xfrm>
            <a:off x="868680" y="45262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15" name="Text 12"/>
          <p:cNvSpPr/>
          <p:nvPr/>
        </p:nvSpPr>
        <p:spPr>
          <a:xfrm>
            <a:off x="1554480" y="4453128"/>
            <a:ext cx="9784080" cy="320040"/>
          </a:xfrm>
          <a:prstGeom prst="rect">
            <a:avLst/>
          </a:prstGeom>
          <a:noFill/>
          <a:ln/>
        </p:spPr>
        <p:txBody>
          <a:bodyPr wrap="square" lIns="0" tIns="0" rIns="0" bIns="0" rtlCol="0" anchor="ctr"/>
          <a:lstStyle/>
          <a:p>
            <a:pPr marL="0" indent="0">
              <a:buNone/>
            </a:pPr>
            <a:r>
              <a:rPr lang="en-US" sz="1200" b="1" kern="0" spc="150" dirty="0">
                <a:solidFill>
                  <a:srgbClr val="49267A"/>
                </a:solidFill>
                <a:latin typeface="Arial Black" pitchFamily="34" charset="0"/>
                <a:ea typeface="Arial Black" pitchFamily="34" charset="-122"/>
                <a:cs typeface="Arial Black" pitchFamily="34" charset="-120"/>
              </a:rPr>
              <a:t>RESTRICTIONS EMPOWER UNTRAINED PROVIDERS</a:t>
            </a:r>
            <a:endParaRPr lang="en-US" sz="1200" dirty="0"/>
          </a:p>
        </p:txBody>
      </p:sp>
      <p:sp>
        <p:nvSpPr>
          <p:cNvPr id="16" name="Text 13"/>
          <p:cNvSpPr/>
          <p:nvPr/>
        </p:nvSpPr>
        <p:spPr>
          <a:xfrm>
            <a:off x="1554480" y="4754880"/>
            <a:ext cx="9784080" cy="411480"/>
          </a:xfrm>
          <a:prstGeom prst="rect">
            <a:avLst/>
          </a:prstGeom>
          <a:noFill/>
          <a:ln/>
        </p:spPr>
        <p:txBody>
          <a:bodyPr wrap="square" lIns="0" tIns="0" rIns="0" bIns="0" rtlCol="0" anchor="ctr"/>
          <a:lstStyle/>
          <a:p>
            <a:pPr marL="0" indent="0">
              <a:buNone/>
            </a:pPr>
            <a:r>
              <a:rPr lang="en-US" sz="1100" dirty="0">
                <a:solidFill>
                  <a:srgbClr val="3A3A3A"/>
                </a:solidFill>
                <a:latin typeface="Arial" pitchFamily="34" charset="0"/>
                <a:ea typeface="Arial" pitchFamily="34" charset="-122"/>
                <a:cs typeface="Arial" pitchFamily="34" charset="-120"/>
              </a:rPr>
              <a:t>Current legal restrictions empower untrained providers, fuel clandestine procedures, and worsen maternal mortality.</a:t>
            </a:r>
            <a:endParaRPr lang="en-US" sz="1100" dirty="0"/>
          </a:p>
        </p:txBody>
      </p:sp>
      <p:sp>
        <p:nvSpPr>
          <p:cNvPr id="17" name="Shape 14"/>
          <p:cNvSpPr/>
          <p:nvPr/>
        </p:nvSpPr>
        <p:spPr>
          <a:xfrm>
            <a:off x="640080" y="5303520"/>
            <a:ext cx="10972800" cy="868680"/>
          </a:xfrm>
          <a:prstGeom prst="rect">
            <a:avLst/>
          </a:prstGeom>
          <a:solidFill>
            <a:srgbClr val="FBF7F2"/>
          </a:solidFill>
          <a:ln/>
        </p:spPr>
        <p:txBody>
          <a:bodyPr/>
          <a:lstStyle/>
          <a:p>
            <a:endParaRPr lang="en-US"/>
          </a:p>
        </p:txBody>
      </p:sp>
      <p:sp>
        <p:nvSpPr>
          <p:cNvPr id="18" name="Shape 15"/>
          <p:cNvSpPr/>
          <p:nvPr/>
        </p:nvSpPr>
        <p:spPr>
          <a:xfrm>
            <a:off x="868680" y="5486400"/>
            <a:ext cx="502920" cy="502920"/>
          </a:xfrm>
          <a:prstGeom prst="ellipse">
            <a:avLst/>
          </a:prstGeom>
          <a:solidFill>
            <a:srgbClr val="E62B67"/>
          </a:solidFill>
          <a:ln/>
        </p:spPr>
        <p:txBody>
          <a:bodyPr/>
          <a:lstStyle/>
          <a:p>
            <a:endParaRPr lang="en-US"/>
          </a:p>
        </p:txBody>
      </p:sp>
      <p:sp>
        <p:nvSpPr>
          <p:cNvPr id="19" name="Text 16"/>
          <p:cNvSpPr/>
          <p:nvPr/>
        </p:nvSpPr>
        <p:spPr>
          <a:xfrm>
            <a:off x="868680" y="54864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20" name="Text 17"/>
          <p:cNvSpPr/>
          <p:nvPr/>
        </p:nvSpPr>
        <p:spPr>
          <a:xfrm>
            <a:off x="1554480" y="5413248"/>
            <a:ext cx="9784080" cy="320040"/>
          </a:xfrm>
          <a:prstGeom prst="rect">
            <a:avLst/>
          </a:prstGeom>
          <a:noFill/>
          <a:ln/>
        </p:spPr>
        <p:txBody>
          <a:bodyPr wrap="square" lIns="0" tIns="0" rIns="0" bIns="0" rtlCol="0" anchor="ctr"/>
          <a:lstStyle/>
          <a:p>
            <a:pPr marL="0" indent="0">
              <a:buNone/>
            </a:pPr>
            <a:r>
              <a:rPr lang="en-US" sz="1200" b="1" kern="0" spc="150" dirty="0">
                <a:solidFill>
                  <a:srgbClr val="49267A"/>
                </a:solidFill>
                <a:latin typeface="Arial Black" pitchFamily="34" charset="0"/>
                <a:ea typeface="Arial Black" pitchFamily="34" charset="-122"/>
                <a:cs typeface="Arial Black" pitchFamily="34" charset="-120"/>
              </a:rPr>
              <a:t>REFORM IS A NATIONAL EMERGENCY</a:t>
            </a:r>
            <a:endParaRPr lang="en-US" sz="1200" dirty="0"/>
          </a:p>
        </p:txBody>
      </p:sp>
      <p:sp>
        <p:nvSpPr>
          <p:cNvPr id="21" name="Text 18"/>
          <p:cNvSpPr/>
          <p:nvPr/>
        </p:nvSpPr>
        <p:spPr>
          <a:xfrm>
            <a:off x="1554480" y="5715000"/>
            <a:ext cx="9784080" cy="411480"/>
          </a:xfrm>
          <a:prstGeom prst="rect">
            <a:avLst/>
          </a:prstGeom>
          <a:noFill/>
          <a:ln/>
        </p:spPr>
        <p:txBody>
          <a:bodyPr wrap="square" lIns="0" tIns="0" rIns="0" bIns="0" rtlCol="0" anchor="ctr"/>
          <a:lstStyle/>
          <a:p>
            <a:pPr marL="0" indent="0">
              <a:buNone/>
            </a:pPr>
            <a:r>
              <a:rPr lang="en-US" sz="1100" dirty="0">
                <a:solidFill>
                  <a:srgbClr val="3A3A3A"/>
                </a:solidFill>
                <a:latin typeface="Arial" pitchFamily="34" charset="0"/>
                <a:ea typeface="Arial" pitchFamily="34" charset="-122"/>
                <a:cs typeface="Arial" pitchFamily="34" charset="-120"/>
              </a:rPr>
              <a:t>Senior clinicians describe the situation as a national public health emergency, arguing that reform is essential to saving lives.</a:t>
            </a:r>
            <a:endParaRPr lang="en-US" sz="1100" dirty="0"/>
          </a:p>
        </p:txBody>
      </p:sp>
      <p:sp>
        <p:nvSpPr>
          <p:cNvPr id="22" name="Shape 19"/>
          <p:cNvSpPr/>
          <p:nvPr/>
        </p:nvSpPr>
        <p:spPr>
          <a:xfrm>
            <a:off x="0" y="6629400"/>
            <a:ext cx="12161520" cy="228600"/>
          </a:xfrm>
          <a:prstGeom prst="rect">
            <a:avLst/>
          </a:prstGeom>
          <a:solidFill>
            <a:srgbClr val="49267A"/>
          </a:solidFill>
          <a:ln/>
        </p:spPr>
        <p:txBody>
          <a:bodyPr/>
          <a:lstStyle/>
          <a:p>
            <a:endParaRPr lang="en-US"/>
          </a:p>
        </p:txBody>
      </p:sp>
      <p:sp>
        <p:nvSpPr>
          <p:cNvPr id="23" name="Text 20"/>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4" name="Text 21"/>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12 / 19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C501"/>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8229600" y="4114800"/>
            <a:ext cx="3657600" cy="3657600"/>
          </a:xfrm>
          <a:prstGeom prst="rect">
            <a:avLst/>
          </a:prstGeom>
          <a:noFill/>
          <a:ln/>
        </p:spPr>
        <p:txBody>
          <a:bodyPr wrap="square" lIns="0" tIns="0" rIns="0" bIns="0" rtlCol="0" anchor="ctr"/>
          <a:lstStyle/>
          <a:p>
            <a:pPr marL="0" indent="0">
              <a:buNone/>
            </a:pPr>
            <a:r>
              <a:rPr lang="en-US" sz="28000" dirty="0">
                <a:solidFill>
                  <a:srgbClr val="49267A">
                    <a:alpha val="20000"/>
                  </a:srgbClr>
                </a:solidFill>
                <a:latin typeface="Arial" pitchFamily="34" charset="0"/>
                <a:ea typeface="Arial" pitchFamily="34" charset="-122"/>
                <a:cs typeface="Arial" pitchFamily="34" charset="-120"/>
              </a:rPr>
              <a:t>✦</a:t>
            </a:r>
            <a:endParaRPr lang="en-US" sz="28000" dirty="0"/>
          </a:p>
        </p:txBody>
      </p:sp>
      <p:sp>
        <p:nvSpPr>
          <p:cNvPr id="4" name="Text 1"/>
          <p:cNvSpPr/>
          <p:nvPr/>
        </p:nvSpPr>
        <p:spPr>
          <a:xfrm>
            <a:off x="640080" y="2286000"/>
            <a:ext cx="4572000" cy="365760"/>
          </a:xfrm>
          <a:prstGeom prst="rect">
            <a:avLst/>
          </a:prstGeom>
          <a:noFill/>
          <a:ln/>
        </p:spPr>
        <p:txBody>
          <a:bodyPr wrap="square" lIns="0" tIns="0" rIns="0" bIns="0" rtlCol="0" anchor="ctr"/>
          <a:lstStyle/>
          <a:p>
            <a:pPr marL="0" indent="0">
              <a:buNone/>
            </a:pPr>
            <a:r>
              <a:rPr lang="en-US" sz="1200" b="1" kern="0" spc="600" dirty="0">
                <a:solidFill>
                  <a:srgbClr val="49267A"/>
                </a:solidFill>
                <a:latin typeface="Arial" pitchFamily="34" charset="0"/>
                <a:ea typeface="Arial" pitchFamily="34" charset="-122"/>
                <a:cs typeface="Arial" pitchFamily="34" charset="-120"/>
              </a:rPr>
              <a:t>PART 04</a:t>
            </a:r>
            <a:endParaRPr lang="en-US" sz="1200" dirty="0"/>
          </a:p>
        </p:txBody>
      </p:sp>
      <p:sp>
        <p:nvSpPr>
          <p:cNvPr id="5" name="Text 2"/>
          <p:cNvSpPr/>
          <p:nvPr/>
        </p:nvSpPr>
        <p:spPr>
          <a:xfrm>
            <a:off x="640080" y="2743200"/>
            <a:ext cx="10972800" cy="2011680"/>
          </a:xfrm>
          <a:prstGeom prst="rect">
            <a:avLst/>
          </a:prstGeom>
          <a:noFill/>
          <a:ln/>
        </p:spPr>
        <p:txBody>
          <a:bodyPr wrap="square" lIns="0" tIns="0" rIns="0" bIns="0" rtlCol="0" anchor="ctr"/>
          <a:lstStyle/>
          <a:p>
            <a:pPr marL="0" indent="0">
              <a:buNone/>
            </a:pPr>
            <a:r>
              <a:rPr lang="en-US" sz="6000" b="1" kern="0" spc="-150" dirty="0">
                <a:solidFill>
                  <a:srgbClr val="49267A"/>
                </a:solidFill>
                <a:latin typeface="Arial Black" pitchFamily="34" charset="0"/>
                <a:ea typeface="Arial Black" pitchFamily="34" charset="-122"/>
                <a:cs typeface="Arial Black" pitchFamily="34" charset="-120"/>
              </a:rPr>
              <a:t>The World Is</a:t>
            </a:r>
            <a:endParaRPr lang="en-US" sz="6000" dirty="0"/>
          </a:p>
          <a:p>
            <a:pPr marL="0" indent="0">
              <a:buNone/>
            </a:pPr>
            <a:r>
              <a:rPr lang="en-US" sz="6000" b="1" kern="0" spc="-150" dirty="0">
                <a:solidFill>
                  <a:srgbClr val="49267A"/>
                </a:solidFill>
                <a:latin typeface="Arial Black" pitchFamily="34" charset="0"/>
                <a:ea typeface="Arial Black" pitchFamily="34" charset="-122"/>
                <a:cs typeface="Arial Black" pitchFamily="34" charset="-120"/>
              </a:rPr>
              <a:t>Moving Forward.</a:t>
            </a:r>
            <a:endParaRPr lang="en-US" sz="6000" dirty="0"/>
          </a:p>
        </p:txBody>
      </p:sp>
      <p:sp>
        <p:nvSpPr>
          <p:cNvPr id="6" name="Shape 3"/>
          <p:cNvSpPr/>
          <p:nvPr/>
        </p:nvSpPr>
        <p:spPr>
          <a:xfrm>
            <a:off x="640080" y="4937760"/>
            <a:ext cx="1097280" cy="0"/>
          </a:xfrm>
          <a:prstGeom prst="line">
            <a:avLst/>
          </a:prstGeom>
          <a:noFill/>
          <a:ln w="50800">
            <a:solidFill>
              <a:srgbClr val="E62B67"/>
            </a:solidFill>
            <a:prstDash val="solid"/>
          </a:ln>
        </p:spPr>
        <p:txBody>
          <a:bodyPr/>
          <a:lstStyle/>
          <a:p>
            <a:endParaRPr lang="en-US"/>
          </a:p>
        </p:txBody>
      </p:sp>
      <p:sp>
        <p:nvSpPr>
          <p:cNvPr id="7" name="Text 4"/>
          <p:cNvSpPr/>
          <p:nvPr/>
        </p:nvSpPr>
        <p:spPr>
          <a:xfrm>
            <a:off x="640080" y="5212080"/>
            <a:ext cx="8229600" cy="1188720"/>
          </a:xfrm>
          <a:prstGeom prst="rect">
            <a:avLst/>
          </a:prstGeom>
          <a:noFill/>
          <a:ln/>
        </p:spPr>
        <p:txBody>
          <a:bodyPr wrap="square" lIns="0" tIns="0" rIns="0" bIns="0" rtlCol="0" anchor="ctr"/>
          <a:lstStyle/>
          <a:p>
            <a:pPr marL="0" indent="0">
              <a:buNone/>
            </a:pPr>
            <a:r>
              <a:rPr lang="en-US" sz="1600" i="1" dirty="0">
                <a:solidFill>
                  <a:srgbClr val="2E1551"/>
                </a:solidFill>
                <a:latin typeface="Arial" pitchFamily="34" charset="0"/>
                <a:ea typeface="Arial" pitchFamily="34" charset="-122"/>
                <a:cs typeface="Arial" pitchFamily="34" charset="-120"/>
              </a:rPr>
              <a:t>Nigeria is not alone in facing this challenge. African nations have already recognised the humanitarian and public health consequences of restrictive laws — and have acted.</a:t>
            </a:r>
            <a:endParaRPr lang="en-US" sz="1600" dirty="0"/>
          </a:p>
        </p:txBody>
      </p:sp>
      <p:sp>
        <p:nvSpPr>
          <p:cNvPr id="8" name="Shape 5"/>
          <p:cNvSpPr/>
          <p:nvPr/>
        </p:nvSpPr>
        <p:spPr>
          <a:xfrm>
            <a:off x="0" y="6629400"/>
            <a:ext cx="12161520" cy="228600"/>
          </a:xfrm>
          <a:prstGeom prst="rect">
            <a:avLst/>
          </a:prstGeom>
          <a:solidFill>
            <a:srgbClr val="49267A"/>
          </a:solidFill>
          <a:ln/>
        </p:spPr>
        <p:txBody>
          <a:bodyPr/>
          <a:lstStyle/>
          <a:p>
            <a:endParaRPr lang="en-US"/>
          </a:p>
        </p:txBody>
      </p:sp>
      <p:sp>
        <p:nvSpPr>
          <p:cNvPr id="9" name="Text 6"/>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10" name="Text 7"/>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13 / 19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04.1</a:t>
            </a:r>
            <a:endParaRPr lang="en-US" sz="2400" dirty="0"/>
          </a:p>
        </p:txBody>
      </p:sp>
      <p:sp>
        <p:nvSpPr>
          <p:cNvPr id="4" name="Text 1"/>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AFRICAN COMPARATORS</a:t>
            </a:r>
            <a:endParaRPr lang="en-US" sz="1100" dirty="0"/>
          </a:p>
        </p:txBody>
      </p:sp>
      <p:sp>
        <p:nvSpPr>
          <p:cNvPr id="5" name="Text 2"/>
          <p:cNvSpPr/>
          <p:nvPr/>
        </p:nvSpPr>
        <p:spPr>
          <a:xfrm>
            <a:off x="640080" y="1097280"/>
            <a:ext cx="10972800" cy="914400"/>
          </a:xfrm>
          <a:prstGeom prst="rect">
            <a:avLst/>
          </a:prstGeom>
          <a:noFill/>
          <a:ln/>
        </p:spPr>
        <p:txBody>
          <a:bodyPr wrap="square" lIns="0" tIns="0" rIns="0" bIns="0" rtlCol="0" anchor="ctr"/>
          <a:lstStyle/>
          <a:p>
            <a:pPr marL="0" indent="0">
              <a:buNone/>
            </a:pPr>
            <a:r>
              <a:rPr lang="en-US" sz="2600" b="1" kern="0" spc="-50" dirty="0">
                <a:solidFill>
                  <a:srgbClr val="49267A"/>
                </a:solidFill>
                <a:latin typeface="Arial Black" pitchFamily="34" charset="0"/>
                <a:ea typeface="Arial Black" pitchFamily="34" charset="-122"/>
                <a:cs typeface="Arial Black" pitchFamily="34" charset="-120"/>
              </a:rPr>
              <a:t>African countries leading reform — and what they did.</a:t>
            </a:r>
            <a:endParaRPr lang="en-US" sz="2600" dirty="0"/>
          </a:p>
        </p:txBody>
      </p:sp>
      <p:sp>
        <p:nvSpPr>
          <p:cNvPr id="6" name="Shape 3"/>
          <p:cNvSpPr/>
          <p:nvPr/>
        </p:nvSpPr>
        <p:spPr>
          <a:xfrm>
            <a:off x="640080" y="2194560"/>
            <a:ext cx="5394960" cy="1828800"/>
          </a:xfrm>
          <a:prstGeom prst="rect">
            <a:avLst/>
          </a:prstGeom>
          <a:solidFill>
            <a:srgbClr val="49267A"/>
          </a:solidFill>
          <a:ln/>
        </p:spPr>
        <p:txBody>
          <a:bodyPr/>
          <a:lstStyle/>
          <a:p>
            <a:endParaRPr lang="en-US"/>
          </a:p>
        </p:txBody>
      </p:sp>
      <p:sp>
        <p:nvSpPr>
          <p:cNvPr id="7" name="Shape 4"/>
          <p:cNvSpPr/>
          <p:nvPr/>
        </p:nvSpPr>
        <p:spPr>
          <a:xfrm>
            <a:off x="640080" y="2194560"/>
            <a:ext cx="5394960" cy="457200"/>
          </a:xfrm>
          <a:prstGeom prst="rect">
            <a:avLst/>
          </a:prstGeom>
          <a:solidFill>
            <a:srgbClr val="E62B67"/>
          </a:solidFill>
          <a:ln/>
        </p:spPr>
        <p:txBody>
          <a:bodyPr/>
          <a:lstStyle/>
          <a:p>
            <a:endParaRPr lang="en-US"/>
          </a:p>
        </p:txBody>
      </p:sp>
      <p:sp>
        <p:nvSpPr>
          <p:cNvPr id="8" name="Text 5"/>
          <p:cNvSpPr/>
          <p:nvPr/>
        </p:nvSpPr>
        <p:spPr>
          <a:xfrm>
            <a:off x="868680" y="2240280"/>
            <a:ext cx="3657600" cy="36576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BENIN</a:t>
            </a:r>
            <a:endParaRPr lang="en-US" sz="1600" dirty="0"/>
          </a:p>
        </p:txBody>
      </p:sp>
      <p:sp>
        <p:nvSpPr>
          <p:cNvPr id="9" name="Text 6"/>
          <p:cNvSpPr/>
          <p:nvPr/>
        </p:nvSpPr>
        <p:spPr>
          <a:xfrm>
            <a:off x="4297680" y="2240280"/>
            <a:ext cx="1645920" cy="365760"/>
          </a:xfrm>
          <a:prstGeom prst="rect">
            <a:avLst/>
          </a:prstGeom>
          <a:noFill/>
          <a:ln/>
        </p:spPr>
        <p:txBody>
          <a:bodyPr wrap="square" lIns="0" tIns="0" rIns="0" bIns="0" rtlCol="0" anchor="ctr"/>
          <a:lstStyle/>
          <a:p>
            <a:pPr marL="0" indent="0" algn="r">
              <a:buNone/>
            </a:pPr>
            <a:r>
              <a:rPr lang="en-US" sz="1000" b="1" kern="0" spc="200" dirty="0">
                <a:solidFill>
                  <a:srgbClr val="F8C501"/>
                </a:solidFill>
                <a:latin typeface="Arial" pitchFamily="34" charset="0"/>
                <a:ea typeface="Arial" pitchFamily="34" charset="-122"/>
                <a:cs typeface="Arial" pitchFamily="34" charset="-120"/>
              </a:rPr>
              <a:t>2021</a:t>
            </a:r>
            <a:endParaRPr lang="en-US" sz="1000" dirty="0"/>
          </a:p>
        </p:txBody>
      </p:sp>
      <p:sp>
        <p:nvSpPr>
          <p:cNvPr id="10" name="Text 7"/>
          <p:cNvSpPr/>
          <p:nvPr/>
        </p:nvSpPr>
        <p:spPr>
          <a:xfrm>
            <a:off x="868680" y="2743200"/>
            <a:ext cx="4937760" cy="365760"/>
          </a:xfrm>
          <a:prstGeom prst="rect">
            <a:avLst/>
          </a:prstGeom>
          <a:noFill/>
          <a:ln/>
        </p:spPr>
        <p:txBody>
          <a:bodyPr wrap="square" lIns="0" tIns="0" rIns="0" bIns="0" rtlCol="0" anchor="ctr"/>
          <a:lstStyle/>
          <a:p>
            <a:pPr marL="0" indent="0">
              <a:buNone/>
            </a:pPr>
            <a:r>
              <a:rPr lang="en-US" sz="1400" b="1" dirty="0">
                <a:solidFill>
                  <a:srgbClr val="F8C501"/>
                </a:solidFill>
                <a:latin typeface="Arial Black" pitchFamily="34" charset="0"/>
                <a:ea typeface="Arial Black" pitchFamily="34" charset="-122"/>
                <a:cs typeface="Arial Black" pitchFamily="34" charset="-120"/>
              </a:rPr>
              <a:t>Comprehensive reform</a:t>
            </a:r>
            <a:endParaRPr lang="en-US" sz="1400" dirty="0"/>
          </a:p>
        </p:txBody>
      </p:sp>
      <p:sp>
        <p:nvSpPr>
          <p:cNvPr id="11" name="Text 8"/>
          <p:cNvSpPr/>
          <p:nvPr/>
        </p:nvSpPr>
        <p:spPr>
          <a:xfrm>
            <a:off x="868680" y="3154680"/>
            <a:ext cx="4937760" cy="868680"/>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Amended its law to allow abortion for rape, incest, fetal abnormality, risk to the woman's health — and importantly, when pregnancy causes psychological or socio-economic distress.</a:t>
            </a:r>
            <a:endParaRPr lang="en-US" sz="1050" dirty="0"/>
          </a:p>
        </p:txBody>
      </p:sp>
      <p:sp>
        <p:nvSpPr>
          <p:cNvPr id="12" name="Shape 9"/>
          <p:cNvSpPr/>
          <p:nvPr/>
        </p:nvSpPr>
        <p:spPr>
          <a:xfrm>
            <a:off x="6217920" y="2194560"/>
            <a:ext cx="5394960" cy="1828800"/>
          </a:xfrm>
          <a:prstGeom prst="rect">
            <a:avLst/>
          </a:prstGeom>
          <a:solidFill>
            <a:srgbClr val="49267A"/>
          </a:solidFill>
          <a:ln/>
        </p:spPr>
        <p:txBody>
          <a:bodyPr/>
          <a:lstStyle/>
          <a:p>
            <a:endParaRPr lang="en-US"/>
          </a:p>
        </p:txBody>
      </p:sp>
      <p:sp>
        <p:nvSpPr>
          <p:cNvPr id="13" name="Shape 10"/>
          <p:cNvSpPr/>
          <p:nvPr/>
        </p:nvSpPr>
        <p:spPr>
          <a:xfrm>
            <a:off x="6217920" y="2194560"/>
            <a:ext cx="5394960" cy="457200"/>
          </a:xfrm>
          <a:prstGeom prst="rect">
            <a:avLst/>
          </a:prstGeom>
          <a:solidFill>
            <a:srgbClr val="E62B67"/>
          </a:solidFill>
          <a:ln/>
        </p:spPr>
        <p:txBody>
          <a:bodyPr/>
          <a:lstStyle/>
          <a:p>
            <a:endParaRPr lang="en-US"/>
          </a:p>
        </p:txBody>
      </p:sp>
      <p:sp>
        <p:nvSpPr>
          <p:cNvPr id="14" name="Text 11"/>
          <p:cNvSpPr/>
          <p:nvPr/>
        </p:nvSpPr>
        <p:spPr>
          <a:xfrm>
            <a:off x="6446520" y="2240280"/>
            <a:ext cx="3657600" cy="36576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MALAWI</a:t>
            </a:r>
            <a:endParaRPr lang="en-US" sz="1600" dirty="0"/>
          </a:p>
        </p:txBody>
      </p:sp>
      <p:sp>
        <p:nvSpPr>
          <p:cNvPr id="15" name="Text 12"/>
          <p:cNvSpPr/>
          <p:nvPr/>
        </p:nvSpPr>
        <p:spPr>
          <a:xfrm>
            <a:off x="9875520" y="2240280"/>
            <a:ext cx="1645920" cy="365760"/>
          </a:xfrm>
          <a:prstGeom prst="rect">
            <a:avLst/>
          </a:prstGeom>
          <a:noFill/>
          <a:ln/>
        </p:spPr>
        <p:txBody>
          <a:bodyPr wrap="square" lIns="0" tIns="0" rIns="0" bIns="0" rtlCol="0" anchor="ctr"/>
          <a:lstStyle/>
          <a:p>
            <a:pPr marL="0" indent="0" algn="r">
              <a:buNone/>
            </a:pPr>
            <a:r>
              <a:rPr lang="en-US" sz="1000" b="1" kern="0" spc="200" dirty="0">
                <a:solidFill>
                  <a:srgbClr val="F8C501"/>
                </a:solidFill>
                <a:latin typeface="Arial" pitchFamily="34" charset="0"/>
                <a:ea typeface="Arial" pitchFamily="34" charset="-122"/>
                <a:cs typeface="Arial" pitchFamily="34" charset="-120"/>
              </a:rPr>
              <a:t>Court ruling</a:t>
            </a:r>
            <a:endParaRPr lang="en-US" sz="1000" dirty="0"/>
          </a:p>
        </p:txBody>
      </p:sp>
      <p:sp>
        <p:nvSpPr>
          <p:cNvPr id="16" name="Text 13"/>
          <p:cNvSpPr/>
          <p:nvPr/>
        </p:nvSpPr>
        <p:spPr>
          <a:xfrm>
            <a:off x="6446520" y="2743200"/>
            <a:ext cx="4937760" cy="365760"/>
          </a:xfrm>
          <a:prstGeom prst="rect">
            <a:avLst/>
          </a:prstGeom>
          <a:noFill/>
          <a:ln/>
        </p:spPr>
        <p:txBody>
          <a:bodyPr wrap="square" lIns="0" tIns="0" rIns="0" bIns="0" rtlCol="0" anchor="ctr"/>
          <a:lstStyle/>
          <a:p>
            <a:pPr marL="0" indent="0">
              <a:buNone/>
            </a:pPr>
            <a:r>
              <a:rPr lang="en-US" sz="1400" b="1" dirty="0">
                <a:solidFill>
                  <a:srgbClr val="F8C501"/>
                </a:solidFill>
                <a:latin typeface="Arial Black" pitchFamily="34" charset="0"/>
                <a:ea typeface="Arial Black" pitchFamily="34" charset="-122"/>
                <a:cs typeface="Arial Black" pitchFamily="34" charset="-120"/>
              </a:rPr>
              <a:t>Right to health</a:t>
            </a:r>
            <a:endParaRPr lang="en-US" sz="1400" dirty="0"/>
          </a:p>
        </p:txBody>
      </p:sp>
      <p:sp>
        <p:nvSpPr>
          <p:cNvPr id="17" name="Text 14"/>
          <p:cNvSpPr/>
          <p:nvPr/>
        </p:nvSpPr>
        <p:spPr>
          <a:xfrm>
            <a:off x="6446520" y="3154680"/>
            <a:ext cx="4937760" cy="868680"/>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The High Court ruled that women's right to health and freedom from cruel, inhuman, and degrading treatment require liberalising abortion laws. "Maternal death from unsafe abortion is a violation of the right to life."</a:t>
            </a:r>
            <a:endParaRPr lang="en-US" sz="1050" dirty="0"/>
          </a:p>
        </p:txBody>
      </p:sp>
      <p:sp>
        <p:nvSpPr>
          <p:cNvPr id="18" name="Shape 15"/>
          <p:cNvSpPr/>
          <p:nvPr/>
        </p:nvSpPr>
        <p:spPr>
          <a:xfrm>
            <a:off x="640080" y="4160520"/>
            <a:ext cx="10972800" cy="1965960"/>
          </a:xfrm>
          <a:prstGeom prst="rect">
            <a:avLst/>
          </a:prstGeom>
          <a:solidFill>
            <a:srgbClr val="F8C501"/>
          </a:solidFill>
          <a:ln/>
        </p:spPr>
        <p:txBody>
          <a:bodyPr/>
          <a:lstStyle/>
          <a:p>
            <a:endParaRPr lang="en-US"/>
          </a:p>
        </p:txBody>
      </p:sp>
      <p:sp>
        <p:nvSpPr>
          <p:cNvPr id="19" name="Shape 16"/>
          <p:cNvSpPr/>
          <p:nvPr/>
        </p:nvSpPr>
        <p:spPr>
          <a:xfrm>
            <a:off x="640080" y="4160520"/>
            <a:ext cx="10972800" cy="457200"/>
          </a:xfrm>
          <a:prstGeom prst="rect">
            <a:avLst/>
          </a:prstGeom>
          <a:solidFill>
            <a:srgbClr val="49267A"/>
          </a:solidFill>
          <a:ln/>
        </p:spPr>
        <p:txBody>
          <a:bodyPr/>
          <a:lstStyle/>
          <a:p>
            <a:endParaRPr lang="en-US"/>
          </a:p>
        </p:txBody>
      </p:sp>
      <p:sp>
        <p:nvSpPr>
          <p:cNvPr id="20" name="Text 17"/>
          <p:cNvSpPr/>
          <p:nvPr/>
        </p:nvSpPr>
        <p:spPr>
          <a:xfrm>
            <a:off x="868680" y="4206240"/>
            <a:ext cx="8686800" cy="365760"/>
          </a:xfrm>
          <a:prstGeom prst="rect">
            <a:avLst/>
          </a:prstGeom>
          <a:noFill/>
          <a:ln/>
        </p:spPr>
        <p:txBody>
          <a:bodyPr wrap="square" lIns="0" tIns="0" rIns="0" bIns="0" rtlCol="0" anchor="ctr"/>
          <a:lstStyle/>
          <a:p>
            <a:pPr marL="0" indent="0">
              <a:buNone/>
            </a:pPr>
            <a:r>
              <a:rPr lang="en-US" sz="1300" b="1" kern="0" spc="200" dirty="0">
                <a:solidFill>
                  <a:srgbClr val="FFFFFF"/>
                </a:solidFill>
                <a:latin typeface="Arial Black" pitchFamily="34" charset="0"/>
                <a:ea typeface="Arial Black" pitchFamily="34" charset="-122"/>
                <a:cs typeface="Arial Black" pitchFamily="34" charset="-120"/>
              </a:rPr>
              <a:t>ETHIOPIA · MOZAMBIQUE · CAPE VERDE · SOUTH AFRICA · RWANDA</a:t>
            </a:r>
            <a:endParaRPr lang="en-US" sz="1300" dirty="0"/>
          </a:p>
        </p:txBody>
      </p:sp>
      <p:sp>
        <p:nvSpPr>
          <p:cNvPr id="21" name="Text 18"/>
          <p:cNvSpPr/>
          <p:nvPr/>
        </p:nvSpPr>
        <p:spPr>
          <a:xfrm>
            <a:off x="9601200" y="4206240"/>
            <a:ext cx="1828800" cy="365760"/>
          </a:xfrm>
          <a:prstGeom prst="rect">
            <a:avLst/>
          </a:prstGeom>
          <a:noFill/>
          <a:ln/>
        </p:spPr>
        <p:txBody>
          <a:bodyPr wrap="square" lIns="0" tIns="0" rIns="0" bIns="0" rtlCol="0" anchor="ctr"/>
          <a:lstStyle/>
          <a:p>
            <a:pPr marL="0" indent="0" algn="r">
              <a:buNone/>
            </a:pPr>
            <a:r>
              <a:rPr lang="en-US" sz="1000" b="1" kern="0" spc="200" dirty="0">
                <a:solidFill>
                  <a:srgbClr val="F8C501"/>
                </a:solidFill>
                <a:latin typeface="Arial" pitchFamily="34" charset="0"/>
                <a:ea typeface="Arial" pitchFamily="34" charset="-122"/>
                <a:cs typeface="Arial" pitchFamily="34" charset="-120"/>
              </a:rPr>
              <a:t>Progressive reform</a:t>
            </a:r>
            <a:endParaRPr lang="en-US" sz="1000" dirty="0"/>
          </a:p>
        </p:txBody>
      </p:sp>
      <p:sp>
        <p:nvSpPr>
          <p:cNvPr id="22" name="Text 19"/>
          <p:cNvSpPr/>
          <p:nvPr/>
        </p:nvSpPr>
        <p:spPr>
          <a:xfrm>
            <a:off x="868680" y="4709160"/>
            <a:ext cx="10058400" cy="365760"/>
          </a:xfrm>
          <a:prstGeom prst="rect">
            <a:avLst/>
          </a:prstGeom>
          <a:noFill/>
          <a:ln/>
        </p:spPr>
        <p:txBody>
          <a:bodyPr wrap="square" lIns="0" tIns="0" rIns="0" bIns="0" rtlCol="0" anchor="ctr"/>
          <a:lstStyle/>
          <a:p>
            <a:pPr marL="0" indent="0">
              <a:buNone/>
            </a:pPr>
            <a:r>
              <a:rPr lang="en-US" sz="1600" b="1" dirty="0">
                <a:solidFill>
                  <a:srgbClr val="49267A"/>
                </a:solidFill>
                <a:latin typeface="Arial Black" pitchFamily="34" charset="0"/>
                <a:ea typeface="Arial Black" pitchFamily="34" charset="-122"/>
                <a:cs typeface="Arial Black" pitchFamily="34" charset="-120"/>
              </a:rPr>
              <a:t>Measurable results</a:t>
            </a:r>
            <a:endParaRPr lang="en-US" sz="1600" dirty="0"/>
          </a:p>
        </p:txBody>
      </p:sp>
      <p:sp>
        <p:nvSpPr>
          <p:cNvPr id="23" name="Text 20"/>
          <p:cNvSpPr/>
          <p:nvPr/>
        </p:nvSpPr>
        <p:spPr>
          <a:xfrm>
            <a:off x="868680" y="5120640"/>
            <a:ext cx="10515600" cy="960120"/>
          </a:xfrm>
          <a:prstGeom prst="rect">
            <a:avLst/>
          </a:prstGeom>
          <a:noFill/>
          <a:ln/>
        </p:spPr>
        <p:txBody>
          <a:bodyPr wrap="square" lIns="0" tIns="0" rIns="0" bIns="0" rtlCol="0" anchor="ctr"/>
          <a:lstStyle/>
          <a:p>
            <a:pPr marL="0" indent="0">
              <a:buNone/>
            </a:pPr>
            <a:r>
              <a:rPr lang="en-US" sz="1200" dirty="0">
                <a:solidFill>
                  <a:srgbClr val="2E1551"/>
                </a:solidFill>
                <a:latin typeface="Arial" pitchFamily="34" charset="0"/>
                <a:ea typeface="Arial" pitchFamily="34" charset="-122"/>
                <a:cs typeface="Arial" pitchFamily="34" charset="-120"/>
              </a:rPr>
              <a:t>Drastic reductions in unsafe abortion · Improved maternal survival · Fewer hospital admissions due to complications. Nigeria should not lag behind the rest of Africa in protecting its own citizens.</a:t>
            </a:r>
            <a:endParaRPr lang="en-US" sz="1200" dirty="0"/>
          </a:p>
        </p:txBody>
      </p:sp>
      <p:sp>
        <p:nvSpPr>
          <p:cNvPr id="24" name="Shape 21"/>
          <p:cNvSpPr/>
          <p:nvPr/>
        </p:nvSpPr>
        <p:spPr>
          <a:xfrm>
            <a:off x="0" y="6629400"/>
            <a:ext cx="12161520" cy="228600"/>
          </a:xfrm>
          <a:prstGeom prst="rect">
            <a:avLst/>
          </a:prstGeom>
          <a:solidFill>
            <a:srgbClr val="49267A"/>
          </a:solidFill>
          <a:ln/>
        </p:spPr>
        <p:txBody>
          <a:bodyPr/>
          <a:lstStyle/>
          <a:p>
            <a:endParaRPr lang="en-US"/>
          </a:p>
        </p:txBody>
      </p:sp>
      <p:sp>
        <p:nvSpPr>
          <p:cNvPr id="25" name="Text 22"/>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6" name="Text 23"/>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14 / 19</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05</a:t>
            </a:r>
            <a:endParaRPr lang="en-US" sz="2400" dirty="0"/>
          </a:p>
        </p:txBody>
      </p:sp>
      <p:sp>
        <p:nvSpPr>
          <p:cNvPr id="4" name="Text 1"/>
          <p:cNvSpPr/>
          <p:nvPr/>
        </p:nvSpPr>
        <p:spPr>
          <a:xfrm>
            <a:off x="128016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HUMAN RIGHTS OBLIGATIONS</a:t>
            </a:r>
            <a:endParaRPr lang="en-US" sz="1100" dirty="0"/>
          </a:p>
        </p:txBody>
      </p:sp>
      <p:sp>
        <p:nvSpPr>
          <p:cNvPr id="5" name="Text 2"/>
          <p:cNvSpPr/>
          <p:nvPr/>
        </p:nvSpPr>
        <p:spPr>
          <a:xfrm>
            <a:off x="640080" y="1097280"/>
            <a:ext cx="10972800" cy="914400"/>
          </a:xfrm>
          <a:prstGeom prst="rect">
            <a:avLst/>
          </a:prstGeom>
          <a:noFill/>
          <a:ln/>
        </p:spPr>
        <p:txBody>
          <a:bodyPr wrap="square" lIns="0" tIns="0" rIns="0" bIns="0" rtlCol="0" anchor="ctr"/>
          <a:lstStyle/>
          <a:p>
            <a:pPr marL="0" indent="0">
              <a:buNone/>
            </a:pPr>
            <a:r>
              <a:rPr lang="en-US" sz="2800" b="1" kern="0" spc="-50" dirty="0">
                <a:solidFill>
                  <a:srgbClr val="49267A"/>
                </a:solidFill>
                <a:latin typeface="Arial Black" pitchFamily="34" charset="0"/>
                <a:ea typeface="Arial Black" pitchFamily="34" charset="-122"/>
                <a:cs typeface="Arial Black" pitchFamily="34" charset="-120"/>
              </a:rPr>
              <a:t>Nigeria's binding human rights commitments.</a:t>
            </a:r>
            <a:endParaRPr lang="en-US" sz="2800" dirty="0"/>
          </a:p>
        </p:txBody>
      </p:sp>
      <p:sp>
        <p:nvSpPr>
          <p:cNvPr id="6" name="Text 3"/>
          <p:cNvSpPr/>
          <p:nvPr/>
        </p:nvSpPr>
        <p:spPr>
          <a:xfrm>
            <a:off x="640080" y="2103120"/>
            <a:ext cx="10972800" cy="731520"/>
          </a:xfrm>
          <a:prstGeom prst="rect">
            <a:avLst/>
          </a:prstGeom>
          <a:noFill/>
          <a:ln/>
        </p:spPr>
        <p:txBody>
          <a:bodyPr wrap="square" lIns="0" tIns="0" rIns="0" bIns="0" rtlCol="0" anchor="ctr"/>
          <a:lstStyle/>
          <a:p>
            <a:pPr marL="0" indent="0">
              <a:buNone/>
            </a:pPr>
            <a:r>
              <a:rPr lang="en-US" sz="1300" i="1" dirty="0">
                <a:solidFill>
                  <a:srgbClr val="3A3A3A"/>
                </a:solidFill>
                <a:latin typeface="Arial" pitchFamily="34" charset="0"/>
                <a:ea typeface="Arial" pitchFamily="34" charset="-122"/>
                <a:cs typeface="Arial" pitchFamily="34" charset="-120"/>
              </a:rPr>
              <a:t>Nigeria domesticated the African Charter on Human and Peoples' Rights in 1983 (Cap. A9, LFN 2004) — making its provisions enforceable and binding.</a:t>
            </a:r>
            <a:endParaRPr lang="en-US" sz="1300" dirty="0"/>
          </a:p>
        </p:txBody>
      </p:sp>
      <p:sp>
        <p:nvSpPr>
          <p:cNvPr id="7" name="Shape 4"/>
          <p:cNvSpPr/>
          <p:nvPr/>
        </p:nvSpPr>
        <p:spPr>
          <a:xfrm>
            <a:off x="640080" y="3017520"/>
            <a:ext cx="3520440" cy="2194560"/>
          </a:xfrm>
          <a:prstGeom prst="rect">
            <a:avLst/>
          </a:prstGeom>
          <a:solidFill>
            <a:srgbClr val="49267A"/>
          </a:solidFill>
          <a:ln/>
        </p:spPr>
        <p:txBody>
          <a:bodyPr/>
          <a:lstStyle/>
          <a:p>
            <a:endParaRPr lang="en-US"/>
          </a:p>
        </p:txBody>
      </p:sp>
      <p:sp>
        <p:nvSpPr>
          <p:cNvPr id="8" name="Text 5"/>
          <p:cNvSpPr/>
          <p:nvPr/>
        </p:nvSpPr>
        <p:spPr>
          <a:xfrm>
            <a:off x="868680" y="3108960"/>
            <a:ext cx="3108960" cy="320040"/>
          </a:xfrm>
          <a:prstGeom prst="rect">
            <a:avLst/>
          </a:prstGeom>
          <a:noFill/>
          <a:ln/>
        </p:spPr>
        <p:txBody>
          <a:bodyPr wrap="square" lIns="0" tIns="0" rIns="0" bIns="0" rtlCol="0" anchor="ctr"/>
          <a:lstStyle/>
          <a:p>
            <a:pPr marL="0" indent="0">
              <a:buNone/>
            </a:pPr>
            <a:r>
              <a:rPr lang="en-US" sz="1100" b="1" kern="0" spc="300" dirty="0">
                <a:solidFill>
                  <a:srgbClr val="F8C501"/>
                </a:solidFill>
                <a:latin typeface="Arial Black" pitchFamily="34" charset="0"/>
                <a:ea typeface="Arial Black" pitchFamily="34" charset="-122"/>
                <a:cs typeface="Arial Black" pitchFamily="34" charset="-120"/>
              </a:rPr>
              <a:t>ARTICLE 16</a:t>
            </a:r>
            <a:endParaRPr lang="en-US" sz="1100" dirty="0"/>
          </a:p>
        </p:txBody>
      </p:sp>
      <p:sp>
        <p:nvSpPr>
          <p:cNvPr id="9" name="Text 6"/>
          <p:cNvSpPr/>
          <p:nvPr/>
        </p:nvSpPr>
        <p:spPr>
          <a:xfrm>
            <a:off x="868680" y="342900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Right to Health</a:t>
            </a:r>
            <a:endParaRPr lang="en-US" sz="1800" dirty="0"/>
          </a:p>
        </p:txBody>
      </p:sp>
      <p:sp>
        <p:nvSpPr>
          <p:cNvPr id="10" name="Text 7"/>
          <p:cNvSpPr/>
          <p:nvPr/>
        </p:nvSpPr>
        <p:spPr>
          <a:xfrm>
            <a:off x="868680" y="3931920"/>
            <a:ext cx="3108960" cy="11887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The right to the best attainable state of physical and mental health. Nigeria must take measures to protect the health of its people.</a:t>
            </a:r>
            <a:endParaRPr lang="en-US" sz="1100" dirty="0"/>
          </a:p>
        </p:txBody>
      </p:sp>
      <p:sp>
        <p:nvSpPr>
          <p:cNvPr id="11" name="Shape 8"/>
          <p:cNvSpPr/>
          <p:nvPr/>
        </p:nvSpPr>
        <p:spPr>
          <a:xfrm>
            <a:off x="4343400" y="3017520"/>
            <a:ext cx="3520440" cy="2194560"/>
          </a:xfrm>
          <a:prstGeom prst="rect">
            <a:avLst/>
          </a:prstGeom>
          <a:solidFill>
            <a:srgbClr val="49267A"/>
          </a:solidFill>
          <a:ln/>
        </p:spPr>
        <p:txBody>
          <a:bodyPr/>
          <a:lstStyle/>
          <a:p>
            <a:endParaRPr lang="en-US"/>
          </a:p>
        </p:txBody>
      </p:sp>
      <p:sp>
        <p:nvSpPr>
          <p:cNvPr id="12" name="Text 9"/>
          <p:cNvSpPr/>
          <p:nvPr/>
        </p:nvSpPr>
        <p:spPr>
          <a:xfrm>
            <a:off x="4572000" y="3108960"/>
            <a:ext cx="3108960" cy="320040"/>
          </a:xfrm>
          <a:prstGeom prst="rect">
            <a:avLst/>
          </a:prstGeom>
          <a:noFill/>
          <a:ln/>
        </p:spPr>
        <p:txBody>
          <a:bodyPr wrap="square" lIns="0" tIns="0" rIns="0" bIns="0" rtlCol="0" anchor="ctr"/>
          <a:lstStyle/>
          <a:p>
            <a:pPr marL="0" indent="0">
              <a:buNone/>
            </a:pPr>
            <a:r>
              <a:rPr lang="en-US" sz="1100" b="1" kern="0" spc="300" dirty="0">
                <a:solidFill>
                  <a:srgbClr val="F8C501"/>
                </a:solidFill>
                <a:latin typeface="Arial Black" pitchFamily="34" charset="0"/>
                <a:ea typeface="Arial Black" pitchFamily="34" charset="-122"/>
                <a:cs typeface="Arial Black" pitchFamily="34" charset="-120"/>
              </a:rPr>
              <a:t>ARTICLE 18(3)</a:t>
            </a:r>
            <a:endParaRPr lang="en-US" sz="1100" dirty="0"/>
          </a:p>
        </p:txBody>
      </p:sp>
      <p:sp>
        <p:nvSpPr>
          <p:cNvPr id="13" name="Text 10"/>
          <p:cNvSpPr/>
          <p:nvPr/>
        </p:nvSpPr>
        <p:spPr>
          <a:xfrm>
            <a:off x="4572000" y="342900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Women's Rights</a:t>
            </a:r>
            <a:endParaRPr lang="en-US" sz="1800" dirty="0"/>
          </a:p>
        </p:txBody>
      </p:sp>
      <p:sp>
        <p:nvSpPr>
          <p:cNvPr id="14" name="Text 11"/>
          <p:cNvSpPr/>
          <p:nvPr/>
        </p:nvSpPr>
        <p:spPr>
          <a:xfrm>
            <a:off x="4572000" y="3931920"/>
            <a:ext cx="3108960" cy="11887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Elimination of discrimination against women and protection of women's rights. When women die preventable deaths from unsafe abortions, the State is in breach.</a:t>
            </a:r>
            <a:endParaRPr lang="en-US" sz="1100" dirty="0"/>
          </a:p>
        </p:txBody>
      </p:sp>
      <p:sp>
        <p:nvSpPr>
          <p:cNvPr id="15" name="Shape 12"/>
          <p:cNvSpPr/>
          <p:nvPr/>
        </p:nvSpPr>
        <p:spPr>
          <a:xfrm>
            <a:off x="8092440" y="3017520"/>
            <a:ext cx="3520440" cy="2194560"/>
          </a:xfrm>
          <a:prstGeom prst="rect">
            <a:avLst/>
          </a:prstGeom>
          <a:solidFill>
            <a:srgbClr val="E62B67"/>
          </a:solidFill>
          <a:ln/>
        </p:spPr>
        <p:txBody>
          <a:bodyPr/>
          <a:lstStyle/>
          <a:p>
            <a:endParaRPr lang="en-US"/>
          </a:p>
        </p:txBody>
      </p:sp>
      <p:sp>
        <p:nvSpPr>
          <p:cNvPr id="16" name="Text 13"/>
          <p:cNvSpPr/>
          <p:nvPr/>
        </p:nvSpPr>
        <p:spPr>
          <a:xfrm>
            <a:off x="8321040" y="3108960"/>
            <a:ext cx="3108960" cy="320040"/>
          </a:xfrm>
          <a:prstGeom prst="rect">
            <a:avLst/>
          </a:prstGeom>
          <a:noFill/>
          <a:ln/>
        </p:spPr>
        <p:txBody>
          <a:bodyPr wrap="square" lIns="0" tIns="0" rIns="0" bIns="0" rtlCol="0" anchor="ctr"/>
          <a:lstStyle/>
          <a:p>
            <a:pPr marL="0" indent="0">
              <a:buNone/>
            </a:pPr>
            <a:r>
              <a:rPr lang="en-US" sz="1100" b="1" kern="0" spc="300" dirty="0">
                <a:solidFill>
                  <a:srgbClr val="F8C501"/>
                </a:solidFill>
                <a:latin typeface="Arial Black" pitchFamily="34" charset="0"/>
                <a:ea typeface="Arial Black" pitchFamily="34" charset="-122"/>
                <a:cs typeface="Arial Black" pitchFamily="34" charset="-120"/>
              </a:rPr>
              <a:t>RIGHTS VIOLATED</a:t>
            </a:r>
            <a:endParaRPr lang="en-US" sz="1100" dirty="0"/>
          </a:p>
        </p:txBody>
      </p:sp>
      <p:sp>
        <p:nvSpPr>
          <p:cNvPr id="17" name="Text 14"/>
          <p:cNvSpPr/>
          <p:nvPr/>
        </p:nvSpPr>
        <p:spPr>
          <a:xfrm>
            <a:off x="8321040" y="3429000"/>
            <a:ext cx="310896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Abortion restrictions thus violate:</a:t>
            </a:r>
            <a:endParaRPr lang="en-US" sz="1400" dirty="0"/>
          </a:p>
        </p:txBody>
      </p:sp>
      <p:sp>
        <p:nvSpPr>
          <p:cNvPr id="18" name="Text 15"/>
          <p:cNvSpPr/>
          <p:nvPr/>
        </p:nvSpPr>
        <p:spPr>
          <a:xfrm>
            <a:off x="8321040" y="3840480"/>
            <a:ext cx="3108960" cy="128016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Right to life</a:t>
            </a:r>
            <a:endParaRPr lang="en-US" sz="1000" dirty="0"/>
          </a:p>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Right to health</a:t>
            </a:r>
            <a:endParaRPr lang="en-US" sz="1000" dirty="0"/>
          </a:p>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Right to dignity</a:t>
            </a:r>
            <a:endParaRPr lang="en-US" sz="1000" dirty="0"/>
          </a:p>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Right to freedom from discrimination</a:t>
            </a:r>
            <a:endParaRPr lang="en-US" sz="1000" dirty="0"/>
          </a:p>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Right to be free from cruel, inhuman, and degrading treatment</a:t>
            </a:r>
            <a:endParaRPr lang="en-US" sz="1000" dirty="0"/>
          </a:p>
        </p:txBody>
      </p:sp>
      <p:sp>
        <p:nvSpPr>
          <p:cNvPr id="19" name="Shape 16"/>
          <p:cNvSpPr/>
          <p:nvPr/>
        </p:nvSpPr>
        <p:spPr>
          <a:xfrm>
            <a:off x="640080" y="5394960"/>
            <a:ext cx="10972800" cy="777240"/>
          </a:xfrm>
          <a:prstGeom prst="rect">
            <a:avLst/>
          </a:prstGeom>
          <a:solidFill>
            <a:srgbClr val="FBF7F2"/>
          </a:solidFill>
          <a:ln/>
        </p:spPr>
        <p:txBody>
          <a:bodyPr/>
          <a:lstStyle/>
          <a:p>
            <a:endParaRPr lang="en-US"/>
          </a:p>
        </p:txBody>
      </p:sp>
      <p:sp>
        <p:nvSpPr>
          <p:cNvPr id="20" name="Shape 17"/>
          <p:cNvSpPr/>
          <p:nvPr/>
        </p:nvSpPr>
        <p:spPr>
          <a:xfrm>
            <a:off x="640080" y="5394960"/>
            <a:ext cx="109728" cy="777240"/>
          </a:xfrm>
          <a:prstGeom prst="rect">
            <a:avLst/>
          </a:prstGeom>
          <a:solidFill>
            <a:srgbClr val="F8C501"/>
          </a:solidFill>
          <a:ln/>
        </p:spPr>
        <p:txBody>
          <a:bodyPr/>
          <a:lstStyle/>
          <a:p>
            <a:endParaRPr lang="en-US"/>
          </a:p>
        </p:txBody>
      </p:sp>
      <p:sp>
        <p:nvSpPr>
          <p:cNvPr id="21" name="Text 18"/>
          <p:cNvSpPr/>
          <p:nvPr/>
        </p:nvSpPr>
        <p:spPr>
          <a:xfrm>
            <a:off x="914400" y="5486400"/>
            <a:ext cx="914400" cy="274320"/>
          </a:xfrm>
          <a:prstGeom prst="rect">
            <a:avLst/>
          </a:prstGeom>
          <a:noFill/>
          <a:ln/>
        </p:spPr>
        <p:txBody>
          <a:bodyPr wrap="square" lIns="0" tIns="0" rIns="0" bIns="0" rtlCol="0" anchor="ctr"/>
          <a:lstStyle/>
          <a:p>
            <a:pPr marL="0" indent="0">
              <a:buNone/>
            </a:pPr>
            <a:r>
              <a:rPr lang="en-US" sz="1100" b="1" kern="0" spc="200" dirty="0">
                <a:solidFill>
                  <a:srgbClr val="E62B67"/>
                </a:solidFill>
                <a:latin typeface="Arial Black" pitchFamily="34" charset="0"/>
                <a:ea typeface="Arial Black" pitchFamily="34" charset="-122"/>
                <a:cs typeface="Arial Black" pitchFamily="34" charset="-120"/>
              </a:rPr>
              <a:t>PLUS:</a:t>
            </a:r>
            <a:endParaRPr lang="en-US" sz="1100" dirty="0"/>
          </a:p>
        </p:txBody>
      </p:sp>
      <p:sp>
        <p:nvSpPr>
          <p:cNvPr id="22" name="Text 19"/>
          <p:cNvSpPr/>
          <p:nvPr/>
        </p:nvSpPr>
        <p:spPr>
          <a:xfrm>
            <a:off x="914400" y="5760720"/>
            <a:ext cx="10515600" cy="365760"/>
          </a:xfrm>
          <a:prstGeom prst="rect">
            <a:avLst/>
          </a:prstGeom>
          <a:noFill/>
          <a:ln/>
        </p:spPr>
        <p:txBody>
          <a:bodyPr wrap="square" lIns="0" tIns="0" rIns="0" bIns="0" rtlCol="0" anchor="ctr"/>
          <a:lstStyle/>
          <a:p>
            <a:pPr marL="0" indent="0">
              <a:buNone/>
            </a:pPr>
            <a:r>
              <a:rPr lang="en-US" sz="1200" dirty="0">
                <a:solidFill>
                  <a:srgbClr val="49267A"/>
                </a:solidFill>
                <a:latin typeface="Arial" pitchFamily="34" charset="0"/>
                <a:ea typeface="Arial" pitchFamily="34" charset="-122"/>
                <a:cs typeface="Arial" pitchFamily="34" charset="-120"/>
              </a:rPr>
              <a:t>Nigeria is also party to CEDAW, the Maputo Protocol, the CRC, and the ICCPR — all of which require states to safeguard women's reproductive autonomy.</a:t>
            </a:r>
            <a:endParaRPr lang="en-US" sz="1200" dirty="0"/>
          </a:p>
        </p:txBody>
      </p:sp>
      <p:sp>
        <p:nvSpPr>
          <p:cNvPr id="23" name="Shape 20"/>
          <p:cNvSpPr/>
          <p:nvPr/>
        </p:nvSpPr>
        <p:spPr>
          <a:xfrm>
            <a:off x="0" y="6629400"/>
            <a:ext cx="12161520" cy="228600"/>
          </a:xfrm>
          <a:prstGeom prst="rect">
            <a:avLst/>
          </a:prstGeom>
          <a:solidFill>
            <a:srgbClr val="49267A"/>
          </a:solidFill>
          <a:ln/>
        </p:spPr>
        <p:txBody>
          <a:bodyPr/>
          <a:lstStyle/>
          <a:p>
            <a:endParaRPr lang="en-US"/>
          </a:p>
        </p:txBody>
      </p:sp>
      <p:sp>
        <p:nvSpPr>
          <p:cNvPr id="24" name="Text 21"/>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5" name="Text 22"/>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15 / 19</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06</a:t>
            </a:r>
            <a:endParaRPr lang="en-US" sz="2400" dirty="0"/>
          </a:p>
        </p:txBody>
      </p:sp>
      <p:sp>
        <p:nvSpPr>
          <p:cNvPr id="4" name="Text 1"/>
          <p:cNvSpPr/>
          <p:nvPr/>
        </p:nvSpPr>
        <p:spPr>
          <a:xfrm>
            <a:off x="128016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LAW vs. NATIONAL POLICY</a:t>
            </a:r>
            <a:endParaRPr lang="en-US" sz="1100" dirty="0"/>
          </a:p>
        </p:txBody>
      </p:sp>
      <p:sp>
        <p:nvSpPr>
          <p:cNvPr id="5" name="Text 2"/>
          <p:cNvSpPr/>
          <p:nvPr/>
        </p:nvSpPr>
        <p:spPr>
          <a:xfrm>
            <a:off x="640080" y="1097280"/>
            <a:ext cx="10972800" cy="1280160"/>
          </a:xfrm>
          <a:prstGeom prst="rect">
            <a:avLst/>
          </a:prstGeom>
          <a:noFill/>
          <a:ln/>
        </p:spPr>
        <p:txBody>
          <a:bodyPr wrap="square" lIns="0" tIns="0" rIns="0" bIns="0" rtlCol="0" anchor="ctr"/>
          <a:lstStyle/>
          <a:p>
            <a:pPr marL="0" indent="0">
              <a:buNone/>
            </a:pPr>
            <a:r>
              <a:rPr lang="en-US" sz="2600" b="1" kern="0" spc="-50" dirty="0">
                <a:solidFill>
                  <a:srgbClr val="49267A"/>
                </a:solidFill>
                <a:latin typeface="Arial Black" pitchFamily="34" charset="0"/>
                <a:ea typeface="Arial Black" pitchFamily="34" charset="-122"/>
                <a:cs typeface="Arial Black" pitchFamily="34" charset="-120"/>
              </a:rPr>
              <a:t>The Criminal Code contradicts Nigeria's own development priorities.</a:t>
            </a:r>
            <a:endParaRPr lang="en-US" sz="2600" dirty="0"/>
          </a:p>
        </p:txBody>
      </p:sp>
      <p:sp>
        <p:nvSpPr>
          <p:cNvPr id="6" name="Text 3"/>
          <p:cNvSpPr/>
          <p:nvPr/>
        </p:nvSpPr>
        <p:spPr>
          <a:xfrm>
            <a:off x="640080" y="2651760"/>
            <a:ext cx="5486400" cy="274320"/>
          </a:xfrm>
          <a:prstGeom prst="rect">
            <a:avLst/>
          </a:prstGeom>
          <a:noFill/>
          <a:ln/>
        </p:spPr>
        <p:txBody>
          <a:bodyPr wrap="square" lIns="0" tIns="0" rIns="0" bIns="0" rtlCol="0" anchor="ctr"/>
          <a:lstStyle/>
          <a:p>
            <a:pPr marL="0" indent="0">
              <a:buNone/>
            </a:pPr>
            <a:r>
              <a:rPr lang="en-US" sz="1100" b="1" kern="0" spc="300" dirty="0">
                <a:solidFill>
                  <a:srgbClr val="E62B67"/>
                </a:solidFill>
                <a:latin typeface="Arial Black" pitchFamily="34" charset="0"/>
                <a:ea typeface="Arial Black" pitchFamily="34" charset="-122"/>
                <a:cs typeface="Arial Black" pitchFamily="34" charset="-120"/>
              </a:rPr>
              <a:t>WHAT NATIONAL POLICIES EMPHASISE</a:t>
            </a:r>
            <a:endParaRPr lang="en-US" sz="1100" dirty="0"/>
          </a:p>
        </p:txBody>
      </p:sp>
      <p:sp>
        <p:nvSpPr>
          <p:cNvPr id="7" name="Text 4"/>
          <p:cNvSpPr/>
          <p:nvPr/>
        </p:nvSpPr>
        <p:spPr>
          <a:xfrm>
            <a:off x="640080" y="3017520"/>
            <a:ext cx="5394960"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A3A3A"/>
                </a:solidFill>
                <a:latin typeface="Arial" pitchFamily="34" charset="0"/>
                <a:ea typeface="Arial" pitchFamily="34" charset="-122"/>
                <a:cs typeface="Arial" pitchFamily="34" charset="-120"/>
              </a:rPr>
              <a:t>Reducing maternal mortality.</a:t>
            </a:r>
            <a:endParaRPr lang="en-US" sz="1200" dirty="0"/>
          </a:p>
          <a:p>
            <a:pPr marL="342900" indent="-342900">
              <a:spcAft>
                <a:spcPts val="600"/>
              </a:spcAft>
              <a:buSzPct val="100000"/>
              <a:buChar char="■"/>
            </a:pPr>
            <a:r>
              <a:rPr lang="en-US" sz="1200" dirty="0">
                <a:solidFill>
                  <a:srgbClr val="3A3A3A"/>
                </a:solidFill>
                <a:latin typeface="Arial" pitchFamily="34" charset="0"/>
                <a:ea typeface="Arial" pitchFamily="34" charset="-122"/>
                <a:cs typeface="Arial" pitchFamily="34" charset="-120"/>
              </a:rPr>
              <a:t>Expanding contraceptive access.</a:t>
            </a:r>
            <a:endParaRPr lang="en-US" sz="1200" dirty="0"/>
          </a:p>
          <a:p>
            <a:pPr marL="342900" indent="-342900">
              <a:spcAft>
                <a:spcPts val="600"/>
              </a:spcAft>
              <a:buSzPct val="100000"/>
              <a:buChar char="■"/>
            </a:pPr>
            <a:r>
              <a:rPr lang="en-US" sz="1200" dirty="0">
                <a:solidFill>
                  <a:srgbClr val="3A3A3A"/>
                </a:solidFill>
                <a:latin typeface="Arial" pitchFamily="34" charset="0"/>
                <a:ea typeface="Arial" pitchFamily="34" charset="-122"/>
                <a:cs typeface="Arial" pitchFamily="34" charset="-120"/>
              </a:rPr>
              <a:t>Providing evidence-based reproductive healthcare.</a:t>
            </a:r>
            <a:endParaRPr lang="en-US" sz="1200" dirty="0"/>
          </a:p>
          <a:p>
            <a:pPr marL="342900" indent="-342900">
              <a:spcAft>
                <a:spcPts val="600"/>
              </a:spcAft>
              <a:buSzPct val="100000"/>
              <a:buChar char="■"/>
            </a:pPr>
            <a:r>
              <a:rPr lang="en-US" sz="1200" dirty="0">
                <a:solidFill>
                  <a:srgbClr val="3A3A3A"/>
                </a:solidFill>
                <a:latin typeface="Arial" pitchFamily="34" charset="0"/>
                <a:ea typeface="Arial" pitchFamily="34" charset="-122"/>
                <a:cs typeface="Arial" pitchFamily="34" charset="-120"/>
              </a:rPr>
              <a:t>Removing barriers to women's health.</a:t>
            </a:r>
            <a:endParaRPr lang="en-US" sz="1200" dirty="0"/>
          </a:p>
          <a:p>
            <a:pPr marL="342900" indent="-342900">
              <a:spcAft>
                <a:spcPts val="600"/>
              </a:spcAft>
              <a:buSzPct val="100000"/>
              <a:buChar char="■"/>
            </a:pPr>
            <a:r>
              <a:rPr lang="en-US" sz="1200" dirty="0">
                <a:solidFill>
                  <a:srgbClr val="3A3A3A"/>
                </a:solidFill>
                <a:latin typeface="Arial" pitchFamily="34" charset="0"/>
                <a:ea typeface="Arial" pitchFamily="34" charset="-122"/>
                <a:cs typeface="Arial" pitchFamily="34" charset="-120"/>
              </a:rPr>
              <a:t>Strengthening the health system to meet SDG 3 and SDG 5 targets.</a:t>
            </a:r>
            <a:endParaRPr lang="en-US" sz="1200" dirty="0"/>
          </a:p>
        </p:txBody>
      </p:sp>
      <p:sp>
        <p:nvSpPr>
          <p:cNvPr id="8" name="Text 5"/>
          <p:cNvSpPr/>
          <p:nvPr/>
        </p:nvSpPr>
        <p:spPr>
          <a:xfrm>
            <a:off x="640080" y="5212080"/>
            <a:ext cx="5486400" cy="274320"/>
          </a:xfrm>
          <a:prstGeom prst="rect">
            <a:avLst/>
          </a:prstGeom>
          <a:noFill/>
          <a:ln/>
        </p:spPr>
        <p:txBody>
          <a:bodyPr wrap="square" lIns="0" tIns="0" rIns="0" bIns="0" rtlCol="0" anchor="ctr"/>
          <a:lstStyle/>
          <a:p>
            <a:pPr marL="0" indent="0">
              <a:buNone/>
            </a:pPr>
            <a:r>
              <a:rPr lang="en-US" sz="1100" b="1" kern="0" spc="300" dirty="0">
                <a:solidFill>
                  <a:srgbClr val="E62B67"/>
                </a:solidFill>
                <a:latin typeface="Arial Black" pitchFamily="34" charset="0"/>
                <a:ea typeface="Arial Black" pitchFamily="34" charset="-122"/>
                <a:cs typeface="Arial Black" pitchFamily="34" charset="-120"/>
              </a:rPr>
              <a:t>NIGERIA'S DEVELOPMENT PRIORITIES</a:t>
            </a:r>
            <a:endParaRPr lang="en-US" sz="1100" dirty="0"/>
          </a:p>
        </p:txBody>
      </p:sp>
      <p:sp>
        <p:nvSpPr>
          <p:cNvPr id="9" name="Text 6"/>
          <p:cNvSpPr/>
          <p:nvPr/>
        </p:nvSpPr>
        <p:spPr>
          <a:xfrm>
            <a:off x="0" y="0"/>
            <a:ext cx="0" cy="0"/>
          </a:xfrm>
          <a:prstGeom prst="rect">
            <a:avLst/>
          </a:prstGeom>
          <a:noFill/>
          <a:ln/>
        </p:spPr>
        <p:txBody>
          <a:bodyPr wrap="square" rtlCol="0" anchor="ctr"/>
          <a:lstStyle/>
          <a:p>
            <a:pPr marL="0" indent="0">
              <a:buNone/>
            </a:pPr>
            <a:r>
              <a:rPr lang="en-US" dirty="0">
                <a:solidFill>
                  <a:srgbClr val="FFFFFF"/>
                </a:solidFill>
              </a:rPr>
              <a:t>  Empower women    Reduce poverty    Promote human capital development    Expand access to healthcare    Reduce gender-based violence    Achieve demographic transition  </a:t>
            </a:r>
            <a:endParaRPr lang="en-US" dirty="0"/>
          </a:p>
        </p:txBody>
      </p:sp>
      <p:sp>
        <p:nvSpPr>
          <p:cNvPr id="10" name="Shape 7"/>
          <p:cNvSpPr/>
          <p:nvPr/>
        </p:nvSpPr>
        <p:spPr>
          <a:xfrm>
            <a:off x="640080" y="5532120"/>
            <a:ext cx="1056132" cy="274320"/>
          </a:xfrm>
          <a:prstGeom prst="roundRect">
            <a:avLst>
              <a:gd name="adj" fmla="val 50000"/>
            </a:avLst>
          </a:prstGeom>
          <a:solidFill>
            <a:srgbClr val="49267A"/>
          </a:solidFill>
          <a:ln/>
        </p:spPr>
        <p:txBody>
          <a:bodyPr/>
          <a:lstStyle/>
          <a:p>
            <a:endParaRPr lang="en-US"/>
          </a:p>
        </p:txBody>
      </p:sp>
      <p:sp>
        <p:nvSpPr>
          <p:cNvPr id="11" name="Text 8"/>
          <p:cNvSpPr/>
          <p:nvPr/>
        </p:nvSpPr>
        <p:spPr>
          <a:xfrm>
            <a:off x="640080" y="5532120"/>
            <a:ext cx="105613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Empower women</a:t>
            </a:r>
            <a:endParaRPr lang="en-US" sz="900" dirty="0"/>
          </a:p>
        </p:txBody>
      </p:sp>
      <p:sp>
        <p:nvSpPr>
          <p:cNvPr id="12" name="Shape 9"/>
          <p:cNvSpPr/>
          <p:nvPr/>
        </p:nvSpPr>
        <p:spPr>
          <a:xfrm>
            <a:off x="1769364" y="5532120"/>
            <a:ext cx="1124712" cy="274320"/>
          </a:xfrm>
          <a:prstGeom prst="roundRect">
            <a:avLst>
              <a:gd name="adj" fmla="val 50000"/>
            </a:avLst>
          </a:prstGeom>
          <a:solidFill>
            <a:srgbClr val="49267A"/>
          </a:solidFill>
          <a:ln/>
        </p:spPr>
        <p:txBody>
          <a:bodyPr/>
          <a:lstStyle/>
          <a:p>
            <a:endParaRPr lang="en-US"/>
          </a:p>
        </p:txBody>
      </p:sp>
      <p:sp>
        <p:nvSpPr>
          <p:cNvPr id="13" name="Text 10"/>
          <p:cNvSpPr/>
          <p:nvPr/>
        </p:nvSpPr>
        <p:spPr>
          <a:xfrm>
            <a:off x="1769364" y="5532120"/>
            <a:ext cx="112471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Reduce poverty</a:t>
            </a:r>
            <a:endParaRPr lang="en-US" sz="900" dirty="0"/>
          </a:p>
        </p:txBody>
      </p:sp>
      <p:sp>
        <p:nvSpPr>
          <p:cNvPr id="14" name="Shape 11"/>
          <p:cNvSpPr/>
          <p:nvPr/>
        </p:nvSpPr>
        <p:spPr>
          <a:xfrm>
            <a:off x="2967228" y="5532120"/>
            <a:ext cx="2427732" cy="274320"/>
          </a:xfrm>
          <a:prstGeom prst="roundRect">
            <a:avLst>
              <a:gd name="adj" fmla="val 50000"/>
            </a:avLst>
          </a:prstGeom>
          <a:solidFill>
            <a:srgbClr val="49267A"/>
          </a:solidFill>
          <a:ln/>
        </p:spPr>
        <p:txBody>
          <a:bodyPr/>
          <a:lstStyle/>
          <a:p>
            <a:endParaRPr lang="en-US"/>
          </a:p>
        </p:txBody>
      </p:sp>
      <p:sp>
        <p:nvSpPr>
          <p:cNvPr id="15" name="Text 12"/>
          <p:cNvSpPr/>
          <p:nvPr/>
        </p:nvSpPr>
        <p:spPr>
          <a:xfrm>
            <a:off x="2967228" y="5532120"/>
            <a:ext cx="242773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Promote human capital development</a:t>
            </a:r>
            <a:endParaRPr lang="en-US" sz="900" dirty="0"/>
          </a:p>
        </p:txBody>
      </p:sp>
      <p:sp>
        <p:nvSpPr>
          <p:cNvPr id="16" name="Shape 13"/>
          <p:cNvSpPr/>
          <p:nvPr/>
        </p:nvSpPr>
        <p:spPr>
          <a:xfrm>
            <a:off x="640080" y="5897880"/>
            <a:ext cx="2016252" cy="274320"/>
          </a:xfrm>
          <a:prstGeom prst="roundRect">
            <a:avLst>
              <a:gd name="adj" fmla="val 50000"/>
            </a:avLst>
          </a:prstGeom>
          <a:solidFill>
            <a:srgbClr val="49267A"/>
          </a:solidFill>
          <a:ln/>
        </p:spPr>
        <p:txBody>
          <a:bodyPr/>
          <a:lstStyle/>
          <a:p>
            <a:endParaRPr lang="en-US"/>
          </a:p>
        </p:txBody>
      </p:sp>
      <p:sp>
        <p:nvSpPr>
          <p:cNvPr id="17" name="Text 14"/>
          <p:cNvSpPr/>
          <p:nvPr/>
        </p:nvSpPr>
        <p:spPr>
          <a:xfrm>
            <a:off x="640080" y="5897880"/>
            <a:ext cx="201625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Expand access to healthcare</a:t>
            </a:r>
            <a:endParaRPr lang="en-US" sz="900" dirty="0"/>
          </a:p>
        </p:txBody>
      </p:sp>
      <p:sp>
        <p:nvSpPr>
          <p:cNvPr id="18" name="Shape 15"/>
          <p:cNvSpPr/>
          <p:nvPr/>
        </p:nvSpPr>
        <p:spPr>
          <a:xfrm>
            <a:off x="2729484" y="5897880"/>
            <a:ext cx="2084832" cy="274320"/>
          </a:xfrm>
          <a:prstGeom prst="roundRect">
            <a:avLst>
              <a:gd name="adj" fmla="val 50000"/>
            </a:avLst>
          </a:prstGeom>
          <a:solidFill>
            <a:srgbClr val="49267A"/>
          </a:solidFill>
          <a:ln/>
        </p:spPr>
        <p:txBody>
          <a:bodyPr/>
          <a:lstStyle/>
          <a:p>
            <a:endParaRPr lang="en-US"/>
          </a:p>
        </p:txBody>
      </p:sp>
      <p:sp>
        <p:nvSpPr>
          <p:cNvPr id="19" name="Text 16"/>
          <p:cNvSpPr/>
          <p:nvPr/>
        </p:nvSpPr>
        <p:spPr>
          <a:xfrm>
            <a:off x="2729484" y="5897880"/>
            <a:ext cx="208483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Reduce gender-based violence</a:t>
            </a:r>
            <a:endParaRPr lang="en-US" sz="900" dirty="0"/>
          </a:p>
        </p:txBody>
      </p:sp>
      <p:sp>
        <p:nvSpPr>
          <p:cNvPr id="20" name="Shape 17"/>
          <p:cNvSpPr/>
          <p:nvPr/>
        </p:nvSpPr>
        <p:spPr>
          <a:xfrm>
            <a:off x="640080" y="6263640"/>
            <a:ext cx="2221992" cy="274320"/>
          </a:xfrm>
          <a:prstGeom prst="roundRect">
            <a:avLst>
              <a:gd name="adj" fmla="val 50000"/>
            </a:avLst>
          </a:prstGeom>
          <a:solidFill>
            <a:srgbClr val="49267A"/>
          </a:solidFill>
          <a:ln/>
        </p:spPr>
        <p:txBody>
          <a:bodyPr/>
          <a:lstStyle/>
          <a:p>
            <a:endParaRPr lang="en-US"/>
          </a:p>
        </p:txBody>
      </p:sp>
      <p:sp>
        <p:nvSpPr>
          <p:cNvPr id="21" name="Text 18"/>
          <p:cNvSpPr/>
          <p:nvPr/>
        </p:nvSpPr>
        <p:spPr>
          <a:xfrm>
            <a:off x="640080" y="6263640"/>
            <a:ext cx="222199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Achieve demographic transition</a:t>
            </a:r>
            <a:endParaRPr lang="en-US" sz="900" dirty="0"/>
          </a:p>
        </p:txBody>
      </p:sp>
      <p:sp>
        <p:nvSpPr>
          <p:cNvPr id="22" name="Shape 19"/>
          <p:cNvSpPr/>
          <p:nvPr/>
        </p:nvSpPr>
        <p:spPr>
          <a:xfrm>
            <a:off x="6400800" y="2651760"/>
            <a:ext cx="5212080" cy="3520440"/>
          </a:xfrm>
          <a:prstGeom prst="rect">
            <a:avLst/>
          </a:prstGeom>
          <a:solidFill>
            <a:srgbClr val="49267A"/>
          </a:solidFill>
          <a:ln/>
        </p:spPr>
        <p:txBody>
          <a:bodyPr/>
          <a:lstStyle/>
          <a:p>
            <a:endParaRPr lang="en-US"/>
          </a:p>
        </p:txBody>
      </p:sp>
      <p:sp>
        <p:nvSpPr>
          <p:cNvPr id="23" name="Text 20"/>
          <p:cNvSpPr/>
          <p:nvPr/>
        </p:nvSpPr>
        <p:spPr>
          <a:xfrm>
            <a:off x="6675120" y="2788920"/>
            <a:ext cx="4937760" cy="274320"/>
          </a:xfrm>
          <a:prstGeom prst="rect">
            <a:avLst/>
          </a:prstGeom>
          <a:noFill/>
          <a:ln/>
        </p:spPr>
        <p:txBody>
          <a:bodyPr wrap="square" lIns="0" tIns="0" rIns="0" bIns="0" rtlCol="0" anchor="ctr"/>
          <a:lstStyle/>
          <a:p>
            <a:pPr marL="0" indent="0">
              <a:buNone/>
            </a:pPr>
            <a:r>
              <a:rPr lang="en-US" sz="1100" b="1" kern="0" spc="300" dirty="0">
                <a:solidFill>
                  <a:srgbClr val="F8C501"/>
                </a:solidFill>
                <a:latin typeface="Arial Black" pitchFamily="34" charset="0"/>
                <a:ea typeface="Arial Black" pitchFamily="34" charset="-122"/>
                <a:cs typeface="Arial Black" pitchFamily="34" charset="-120"/>
              </a:rPr>
              <a:t>BUT THE CRIMINAL CODE</a:t>
            </a:r>
            <a:endParaRPr lang="en-US" sz="1100" dirty="0"/>
          </a:p>
        </p:txBody>
      </p:sp>
      <p:sp>
        <p:nvSpPr>
          <p:cNvPr id="24" name="Text 21"/>
          <p:cNvSpPr/>
          <p:nvPr/>
        </p:nvSpPr>
        <p:spPr>
          <a:xfrm>
            <a:off x="6675120" y="3108960"/>
            <a:ext cx="4754880" cy="457200"/>
          </a:xfrm>
          <a:prstGeom prst="rect">
            <a:avLst/>
          </a:prstGeom>
          <a:noFill/>
          <a:ln/>
        </p:spPr>
        <p:txBody>
          <a:bodyPr wrap="square" lIns="0" tIns="0" rIns="0" bIns="0" rtlCol="0" anchor="ctr"/>
          <a:lstStyle/>
          <a:p>
            <a:pPr marL="0" indent="0">
              <a:buNone/>
            </a:pPr>
            <a:r>
              <a:rPr lang="en-US" sz="2200" b="1" kern="0" spc="-50" dirty="0">
                <a:solidFill>
                  <a:srgbClr val="FFFFFF"/>
                </a:solidFill>
                <a:latin typeface="Arial Black" pitchFamily="34" charset="0"/>
                <a:ea typeface="Arial Black" pitchFamily="34" charset="-122"/>
                <a:cs typeface="Arial Black" pitchFamily="34" charset="-120"/>
              </a:rPr>
              <a:t>undermines these commitments.</a:t>
            </a:r>
            <a:endParaRPr lang="en-US" sz="2200" dirty="0"/>
          </a:p>
        </p:txBody>
      </p:sp>
      <p:sp>
        <p:nvSpPr>
          <p:cNvPr id="25" name="Text 22"/>
          <p:cNvSpPr/>
          <p:nvPr/>
        </p:nvSpPr>
        <p:spPr>
          <a:xfrm>
            <a:off x="6675120" y="3749040"/>
            <a:ext cx="4754880" cy="118872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Restrictive abortion laws directly obstruct every one of Nigeria's stated development goals — from maternal survival, to gender equality, to demographic transition.</a:t>
            </a:r>
            <a:endParaRPr lang="en-US" sz="1200" dirty="0"/>
          </a:p>
        </p:txBody>
      </p:sp>
      <p:sp>
        <p:nvSpPr>
          <p:cNvPr id="26" name="Text 23"/>
          <p:cNvSpPr/>
          <p:nvPr/>
        </p:nvSpPr>
        <p:spPr>
          <a:xfrm>
            <a:off x="6675120" y="4983480"/>
            <a:ext cx="4754880" cy="1097280"/>
          </a:xfrm>
          <a:prstGeom prst="rect">
            <a:avLst/>
          </a:prstGeom>
          <a:noFill/>
          <a:ln/>
        </p:spPr>
        <p:txBody>
          <a:bodyPr wrap="square" lIns="0" tIns="0" rIns="0" bIns="0" rtlCol="0" anchor="ctr"/>
          <a:lstStyle/>
          <a:p>
            <a:pPr marL="0" indent="0">
              <a:buNone/>
            </a:pPr>
            <a:r>
              <a:rPr lang="en-US" sz="1200" b="1" i="1" dirty="0">
                <a:solidFill>
                  <a:srgbClr val="F8C501"/>
                </a:solidFill>
                <a:latin typeface="Arial" pitchFamily="34" charset="0"/>
                <a:ea typeface="Arial" pitchFamily="34" charset="-122"/>
                <a:cs typeface="Arial" pitchFamily="34" charset="-120"/>
              </a:rPr>
              <a:t>Legislative reform is not only a health measure — it is an economic and developmental necessity.</a:t>
            </a:r>
            <a:endParaRPr lang="en-US" sz="1200" dirty="0"/>
          </a:p>
        </p:txBody>
      </p:sp>
      <p:sp>
        <p:nvSpPr>
          <p:cNvPr id="27" name="Shape 24"/>
          <p:cNvSpPr/>
          <p:nvPr/>
        </p:nvSpPr>
        <p:spPr>
          <a:xfrm>
            <a:off x="0" y="6629400"/>
            <a:ext cx="12161520" cy="228600"/>
          </a:xfrm>
          <a:prstGeom prst="rect">
            <a:avLst/>
          </a:prstGeom>
          <a:solidFill>
            <a:srgbClr val="49267A"/>
          </a:solidFill>
          <a:ln/>
        </p:spPr>
        <p:txBody>
          <a:bodyPr/>
          <a:lstStyle/>
          <a:p>
            <a:endParaRPr lang="en-US"/>
          </a:p>
        </p:txBody>
      </p:sp>
      <p:sp>
        <p:nvSpPr>
          <p:cNvPr id="28" name="Text 25"/>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9" name="Text 26"/>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16 / 19</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home/claude/work/pamoja_logo_pink.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07</a:t>
            </a:r>
            <a:endParaRPr lang="en-US" sz="2400" dirty="0"/>
          </a:p>
        </p:txBody>
      </p:sp>
      <p:sp>
        <p:nvSpPr>
          <p:cNvPr id="4" name="Text 1"/>
          <p:cNvSpPr/>
          <p:nvPr/>
        </p:nvSpPr>
        <p:spPr>
          <a:xfrm>
            <a:off x="1280160" y="502920"/>
            <a:ext cx="7315200" cy="274320"/>
          </a:xfrm>
          <a:prstGeom prst="rect">
            <a:avLst/>
          </a:prstGeom>
          <a:noFill/>
          <a:ln/>
        </p:spPr>
        <p:txBody>
          <a:bodyPr wrap="square" lIns="0" tIns="0" rIns="0" bIns="0" rtlCol="0" anchor="ctr"/>
          <a:lstStyle/>
          <a:p>
            <a:pPr marL="0" indent="0">
              <a:buNone/>
            </a:pPr>
            <a:r>
              <a:rPr lang="en-US" sz="1100" b="1" kern="0" spc="400" dirty="0">
                <a:solidFill>
                  <a:srgbClr val="8B8B8B"/>
                </a:solidFill>
                <a:latin typeface="Arial" pitchFamily="34" charset="0"/>
                <a:ea typeface="Arial" pitchFamily="34" charset="-122"/>
                <a:cs typeface="Arial" pitchFamily="34" charset="-120"/>
              </a:rPr>
              <a:t>THE PATH FORWARD</a:t>
            </a:r>
            <a:endParaRPr lang="en-US" sz="1100" dirty="0"/>
          </a:p>
        </p:txBody>
      </p:sp>
      <p:sp>
        <p:nvSpPr>
          <p:cNvPr id="5" name="Text 2"/>
          <p:cNvSpPr/>
          <p:nvPr/>
        </p:nvSpPr>
        <p:spPr>
          <a:xfrm>
            <a:off x="640080" y="1097280"/>
            <a:ext cx="10972800" cy="914400"/>
          </a:xfrm>
          <a:prstGeom prst="rect">
            <a:avLst/>
          </a:prstGeom>
          <a:noFill/>
          <a:ln/>
        </p:spPr>
        <p:txBody>
          <a:bodyPr wrap="square" lIns="0" tIns="0" rIns="0" bIns="0" rtlCol="0" anchor="ctr"/>
          <a:lstStyle/>
          <a:p>
            <a:pPr marL="0" indent="0">
              <a:buNone/>
            </a:pPr>
            <a:r>
              <a:rPr lang="en-US" sz="2600" b="1" kern="0" spc="-50" dirty="0">
                <a:solidFill>
                  <a:srgbClr val="49267A"/>
                </a:solidFill>
                <a:latin typeface="Arial Black" pitchFamily="34" charset="0"/>
                <a:ea typeface="Arial Black" pitchFamily="34" charset="-122"/>
                <a:cs typeface="Arial Black" pitchFamily="34" charset="-120"/>
              </a:rPr>
              <a:t>Six concrete actions the National Assembly can take.</a:t>
            </a:r>
            <a:endParaRPr lang="en-US" sz="2600" dirty="0"/>
          </a:p>
        </p:txBody>
      </p:sp>
      <p:sp>
        <p:nvSpPr>
          <p:cNvPr id="6" name="Shape 3"/>
          <p:cNvSpPr/>
          <p:nvPr/>
        </p:nvSpPr>
        <p:spPr>
          <a:xfrm>
            <a:off x="640080" y="2286000"/>
            <a:ext cx="3520440" cy="1828800"/>
          </a:xfrm>
          <a:prstGeom prst="rect">
            <a:avLst/>
          </a:prstGeom>
          <a:solidFill>
            <a:srgbClr val="FBF7F2"/>
          </a:solidFill>
          <a:ln/>
        </p:spPr>
        <p:txBody>
          <a:bodyPr/>
          <a:lstStyle/>
          <a:p>
            <a:endParaRPr lang="en-US"/>
          </a:p>
        </p:txBody>
      </p:sp>
      <p:sp>
        <p:nvSpPr>
          <p:cNvPr id="7" name="Shape 4"/>
          <p:cNvSpPr/>
          <p:nvPr/>
        </p:nvSpPr>
        <p:spPr>
          <a:xfrm>
            <a:off x="640080" y="2286000"/>
            <a:ext cx="3520440" cy="73152"/>
          </a:xfrm>
          <a:prstGeom prst="rect">
            <a:avLst/>
          </a:prstGeom>
          <a:solidFill>
            <a:srgbClr val="E62B67"/>
          </a:solidFill>
          <a:ln/>
        </p:spPr>
        <p:txBody>
          <a:bodyPr/>
          <a:lstStyle/>
          <a:p>
            <a:endParaRPr lang="en-US"/>
          </a:p>
        </p:txBody>
      </p:sp>
      <p:sp>
        <p:nvSpPr>
          <p:cNvPr id="8" name="Text 5"/>
          <p:cNvSpPr/>
          <p:nvPr/>
        </p:nvSpPr>
        <p:spPr>
          <a:xfrm>
            <a:off x="868680" y="2468880"/>
            <a:ext cx="914400" cy="548640"/>
          </a:xfrm>
          <a:prstGeom prst="rect">
            <a:avLst/>
          </a:prstGeom>
          <a:noFill/>
          <a:ln/>
        </p:spPr>
        <p:txBody>
          <a:bodyPr wrap="square" lIns="0" tIns="0" rIns="0" bIns="0" rtlCol="0" anchor="ctr"/>
          <a:lstStyle/>
          <a:p>
            <a:pPr marL="0" indent="0">
              <a:buNone/>
            </a:pPr>
            <a:r>
              <a:rPr lang="en-US" sz="2800" b="1" dirty="0">
                <a:solidFill>
                  <a:srgbClr val="E62B67"/>
                </a:solidFill>
                <a:latin typeface="Arial Black" pitchFamily="34" charset="0"/>
                <a:ea typeface="Arial Black" pitchFamily="34" charset="-122"/>
                <a:cs typeface="Arial Black" pitchFamily="34" charset="-120"/>
              </a:rPr>
              <a:t>01</a:t>
            </a:r>
            <a:endParaRPr lang="en-US" sz="2800" dirty="0"/>
          </a:p>
        </p:txBody>
      </p:sp>
      <p:sp>
        <p:nvSpPr>
          <p:cNvPr id="9" name="Text 6"/>
          <p:cNvSpPr/>
          <p:nvPr/>
        </p:nvSpPr>
        <p:spPr>
          <a:xfrm>
            <a:off x="868680" y="3063240"/>
            <a:ext cx="3108960" cy="1005840"/>
          </a:xfrm>
          <a:prstGeom prst="rect">
            <a:avLst/>
          </a:prstGeom>
          <a:noFill/>
          <a:ln/>
        </p:spPr>
        <p:txBody>
          <a:bodyPr wrap="square" lIns="0" tIns="0" rIns="0" bIns="0" rtlCol="0" anchor="ctr"/>
          <a:lstStyle/>
          <a:p>
            <a:pPr marL="0" indent="0">
              <a:buNone/>
            </a:pPr>
            <a:r>
              <a:rPr lang="en-US" sz="1100" dirty="0">
                <a:solidFill>
                  <a:srgbClr val="49267A"/>
                </a:solidFill>
                <a:latin typeface="Arial" pitchFamily="34" charset="0"/>
                <a:ea typeface="Arial" pitchFamily="34" charset="-122"/>
                <a:cs typeface="Arial" pitchFamily="34" charset="-120"/>
              </a:rPr>
              <a:t>Review and amend Sections 228–230 of the Criminal Code to expand lawful grounds for termination of pregnancy, including rape and incest.</a:t>
            </a:r>
            <a:endParaRPr lang="en-US" sz="1100" dirty="0"/>
          </a:p>
        </p:txBody>
      </p:sp>
      <p:sp>
        <p:nvSpPr>
          <p:cNvPr id="10" name="Shape 7"/>
          <p:cNvSpPr/>
          <p:nvPr/>
        </p:nvSpPr>
        <p:spPr>
          <a:xfrm>
            <a:off x="4361688" y="2286000"/>
            <a:ext cx="3520440" cy="1828800"/>
          </a:xfrm>
          <a:prstGeom prst="rect">
            <a:avLst/>
          </a:prstGeom>
          <a:solidFill>
            <a:srgbClr val="FBF7F2"/>
          </a:solidFill>
          <a:ln/>
        </p:spPr>
        <p:txBody>
          <a:bodyPr/>
          <a:lstStyle/>
          <a:p>
            <a:endParaRPr lang="en-US"/>
          </a:p>
        </p:txBody>
      </p:sp>
      <p:sp>
        <p:nvSpPr>
          <p:cNvPr id="11" name="Shape 8"/>
          <p:cNvSpPr/>
          <p:nvPr/>
        </p:nvSpPr>
        <p:spPr>
          <a:xfrm>
            <a:off x="4361688" y="2286000"/>
            <a:ext cx="3520440" cy="73152"/>
          </a:xfrm>
          <a:prstGeom prst="rect">
            <a:avLst/>
          </a:prstGeom>
          <a:solidFill>
            <a:srgbClr val="E62B67"/>
          </a:solidFill>
          <a:ln/>
        </p:spPr>
        <p:txBody>
          <a:bodyPr/>
          <a:lstStyle/>
          <a:p>
            <a:endParaRPr lang="en-US"/>
          </a:p>
        </p:txBody>
      </p:sp>
      <p:sp>
        <p:nvSpPr>
          <p:cNvPr id="12" name="Text 9"/>
          <p:cNvSpPr/>
          <p:nvPr/>
        </p:nvSpPr>
        <p:spPr>
          <a:xfrm>
            <a:off x="4590288" y="2468880"/>
            <a:ext cx="914400" cy="548640"/>
          </a:xfrm>
          <a:prstGeom prst="rect">
            <a:avLst/>
          </a:prstGeom>
          <a:noFill/>
          <a:ln/>
        </p:spPr>
        <p:txBody>
          <a:bodyPr wrap="square" lIns="0" tIns="0" rIns="0" bIns="0" rtlCol="0" anchor="ctr"/>
          <a:lstStyle/>
          <a:p>
            <a:pPr marL="0" indent="0">
              <a:buNone/>
            </a:pPr>
            <a:r>
              <a:rPr lang="en-US" sz="2800" b="1" dirty="0">
                <a:solidFill>
                  <a:srgbClr val="E62B67"/>
                </a:solidFill>
                <a:latin typeface="Arial Black" pitchFamily="34" charset="0"/>
                <a:ea typeface="Arial Black" pitchFamily="34" charset="-122"/>
                <a:cs typeface="Arial Black" pitchFamily="34" charset="-120"/>
              </a:rPr>
              <a:t>02</a:t>
            </a:r>
            <a:endParaRPr lang="en-US" sz="2800" dirty="0"/>
          </a:p>
        </p:txBody>
      </p:sp>
      <p:sp>
        <p:nvSpPr>
          <p:cNvPr id="13" name="Text 10"/>
          <p:cNvSpPr/>
          <p:nvPr/>
        </p:nvSpPr>
        <p:spPr>
          <a:xfrm>
            <a:off x="4590288" y="3063240"/>
            <a:ext cx="3108960" cy="1005840"/>
          </a:xfrm>
          <a:prstGeom prst="rect">
            <a:avLst/>
          </a:prstGeom>
          <a:noFill/>
          <a:ln/>
        </p:spPr>
        <p:txBody>
          <a:bodyPr wrap="square" lIns="0" tIns="0" rIns="0" bIns="0" rtlCol="0" anchor="ctr"/>
          <a:lstStyle/>
          <a:p>
            <a:pPr marL="0" indent="0">
              <a:buNone/>
            </a:pPr>
            <a:r>
              <a:rPr lang="en-US" sz="1100" dirty="0">
                <a:solidFill>
                  <a:srgbClr val="49267A"/>
                </a:solidFill>
                <a:latin typeface="Arial" pitchFamily="34" charset="0"/>
                <a:ea typeface="Arial" pitchFamily="34" charset="-122"/>
                <a:cs typeface="Arial" pitchFamily="34" charset="-120"/>
              </a:rPr>
              <a:t>Align laws with existing health policies and guidelines — particularly FMOH's safe termination protocols.</a:t>
            </a:r>
            <a:endParaRPr lang="en-US" sz="1100" dirty="0"/>
          </a:p>
        </p:txBody>
      </p:sp>
      <p:sp>
        <p:nvSpPr>
          <p:cNvPr id="14" name="Shape 11"/>
          <p:cNvSpPr/>
          <p:nvPr/>
        </p:nvSpPr>
        <p:spPr>
          <a:xfrm>
            <a:off x="8083296" y="2286000"/>
            <a:ext cx="3520440" cy="1828800"/>
          </a:xfrm>
          <a:prstGeom prst="rect">
            <a:avLst/>
          </a:prstGeom>
          <a:solidFill>
            <a:srgbClr val="FBF7F2"/>
          </a:solidFill>
          <a:ln/>
        </p:spPr>
        <p:txBody>
          <a:bodyPr/>
          <a:lstStyle/>
          <a:p>
            <a:endParaRPr lang="en-US"/>
          </a:p>
        </p:txBody>
      </p:sp>
      <p:sp>
        <p:nvSpPr>
          <p:cNvPr id="15" name="Shape 12"/>
          <p:cNvSpPr/>
          <p:nvPr/>
        </p:nvSpPr>
        <p:spPr>
          <a:xfrm>
            <a:off x="8083296" y="2286000"/>
            <a:ext cx="3520440" cy="73152"/>
          </a:xfrm>
          <a:prstGeom prst="rect">
            <a:avLst/>
          </a:prstGeom>
          <a:solidFill>
            <a:srgbClr val="E62B67"/>
          </a:solidFill>
          <a:ln/>
        </p:spPr>
        <p:txBody>
          <a:bodyPr/>
          <a:lstStyle/>
          <a:p>
            <a:endParaRPr lang="en-US"/>
          </a:p>
        </p:txBody>
      </p:sp>
      <p:sp>
        <p:nvSpPr>
          <p:cNvPr id="16" name="Text 13"/>
          <p:cNvSpPr/>
          <p:nvPr/>
        </p:nvSpPr>
        <p:spPr>
          <a:xfrm>
            <a:off x="8311896" y="2468880"/>
            <a:ext cx="914400" cy="548640"/>
          </a:xfrm>
          <a:prstGeom prst="rect">
            <a:avLst/>
          </a:prstGeom>
          <a:noFill/>
          <a:ln/>
        </p:spPr>
        <p:txBody>
          <a:bodyPr wrap="square" lIns="0" tIns="0" rIns="0" bIns="0" rtlCol="0" anchor="ctr"/>
          <a:lstStyle/>
          <a:p>
            <a:pPr marL="0" indent="0">
              <a:buNone/>
            </a:pPr>
            <a:r>
              <a:rPr lang="en-US" sz="2800" b="1" dirty="0">
                <a:solidFill>
                  <a:srgbClr val="E62B67"/>
                </a:solidFill>
                <a:latin typeface="Arial Black" pitchFamily="34" charset="0"/>
                <a:ea typeface="Arial Black" pitchFamily="34" charset="-122"/>
                <a:cs typeface="Arial Black" pitchFamily="34" charset="-120"/>
              </a:rPr>
              <a:t>03</a:t>
            </a:r>
            <a:endParaRPr lang="en-US" sz="2800" dirty="0"/>
          </a:p>
        </p:txBody>
      </p:sp>
      <p:sp>
        <p:nvSpPr>
          <p:cNvPr id="17" name="Text 14"/>
          <p:cNvSpPr/>
          <p:nvPr/>
        </p:nvSpPr>
        <p:spPr>
          <a:xfrm>
            <a:off x="8311896" y="3063240"/>
            <a:ext cx="3108960" cy="1005840"/>
          </a:xfrm>
          <a:prstGeom prst="rect">
            <a:avLst/>
          </a:prstGeom>
          <a:noFill/>
          <a:ln/>
        </p:spPr>
        <p:txBody>
          <a:bodyPr wrap="square" lIns="0" tIns="0" rIns="0" bIns="0" rtlCol="0" anchor="ctr"/>
          <a:lstStyle/>
          <a:p>
            <a:pPr marL="0" indent="0">
              <a:buNone/>
            </a:pPr>
            <a:r>
              <a:rPr lang="en-US" sz="1100" dirty="0">
                <a:solidFill>
                  <a:srgbClr val="49267A"/>
                </a:solidFill>
                <a:latin typeface="Arial" pitchFamily="34" charset="0"/>
                <a:ea typeface="Arial" pitchFamily="34" charset="-122"/>
                <a:cs typeface="Arial" pitchFamily="34" charset="-120"/>
              </a:rPr>
              <a:t>Protect healthcare workers through legal clarity.</a:t>
            </a:r>
            <a:endParaRPr lang="en-US" sz="1100" dirty="0"/>
          </a:p>
        </p:txBody>
      </p:sp>
      <p:sp>
        <p:nvSpPr>
          <p:cNvPr id="18" name="Shape 15"/>
          <p:cNvSpPr/>
          <p:nvPr/>
        </p:nvSpPr>
        <p:spPr>
          <a:xfrm>
            <a:off x="640080" y="4297680"/>
            <a:ext cx="3520440" cy="1828800"/>
          </a:xfrm>
          <a:prstGeom prst="rect">
            <a:avLst/>
          </a:prstGeom>
          <a:solidFill>
            <a:srgbClr val="FBF7F2"/>
          </a:solidFill>
          <a:ln/>
        </p:spPr>
        <p:txBody>
          <a:bodyPr/>
          <a:lstStyle/>
          <a:p>
            <a:endParaRPr lang="en-US"/>
          </a:p>
        </p:txBody>
      </p:sp>
      <p:sp>
        <p:nvSpPr>
          <p:cNvPr id="19" name="Shape 16"/>
          <p:cNvSpPr/>
          <p:nvPr/>
        </p:nvSpPr>
        <p:spPr>
          <a:xfrm>
            <a:off x="640080" y="4297680"/>
            <a:ext cx="3520440" cy="73152"/>
          </a:xfrm>
          <a:prstGeom prst="rect">
            <a:avLst/>
          </a:prstGeom>
          <a:solidFill>
            <a:srgbClr val="E62B67"/>
          </a:solidFill>
          <a:ln/>
        </p:spPr>
        <p:txBody>
          <a:bodyPr/>
          <a:lstStyle/>
          <a:p>
            <a:endParaRPr lang="en-US"/>
          </a:p>
        </p:txBody>
      </p:sp>
      <p:sp>
        <p:nvSpPr>
          <p:cNvPr id="20" name="Text 17"/>
          <p:cNvSpPr/>
          <p:nvPr/>
        </p:nvSpPr>
        <p:spPr>
          <a:xfrm>
            <a:off x="868680" y="4480560"/>
            <a:ext cx="914400" cy="548640"/>
          </a:xfrm>
          <a:prstGeom prst="rect">
            <a:avLst/>
          </a:prstGeom>
          <a:noFill/>
          <a:ln/>
        </p:spPr>
        <p:txBody>
          <a:bodyPr wrap="square" lIns="0" tIns="0" rIns="0" bIns="0" rtlCol="0" anchor="ctr"/>
          <a:lstStyle/>
          <a:p>
            <a:pPr marL="0" indent="0">
              <a:buNone/>
            </a:pPr>
            <a:r>
              <a:rPr lang="en-US" sz="2800" b="1" dirty="0">
                <a:solidFill>
                  <a:srgbClr val="E62B67"/>
                </a:solidFill>
                <a:latin typeface="Arial Black" pitchFamily="34" charset="0"/>
                <a:ea typeface="Arial Black" pitchFamily="34" charset="-122"/>
                <a:cs typeface="Arial Black" pitchFamily="34" charset="-120"/>
              </a:rPr>
              <a:t>04</a:t>
            </a:r>
            <a:endParaRPr lang="en-US" sz="2800" dirty="0"/>
          </a:p>
        </p:txBody>
      </p:sp>
      <p:sp>
        <p:nvSpPr>
          <p:cNvPr id="21" name="Text 18"/>
          <p:cNvSpPr/>
          <p:nvPr/>
        </p:nvSpPr>
        <p:spPr>
          <a:xfrm>
            <a:off x="868680" y="5074920"/>
            <a:ext cx="3108960" cy="1005840"/>
          </a:xfrm>
          <a:prstGeom prst="rect">
            <a:avLst/>
          </a:prstGeom>
          <a:noFill/>
          <a:ln/>
        </p:spPr>
        <p:txBody>
          <a:bodyPr wrap="square" lIns="0" tIns="0" rIns="0" bIns="0" rtlCol="0" anchor="ctr"/>
          <a:lstStyle/>
          <a:p>
            <a:pPr marL="0" indent="0">
              <a:buNone/>
            </a:pPr>
            <a:r>
              <a:rPr lang="en-US" sz="1100" dirty="0">
                <a:solidFill>
                  <a:srgbClr val="49267A"/>
                </a:solidFill>
                <a:latin typeface="Arial" pitchFamily="34" charset="0"/>
                <a:ea typeface="Arial" pitchFamily="34" charset="-122"/>
                <a:cs typeface="Arial" pitchFamily="34" charset="-120"/>
              </a:rPr>
              <a:t>Ensure safe abortion services are integrated into national health systems.</a:t>
            </a:r>
            <a:endParaRPr lang="en-US" sz="1100" dirty="0"/>
          </a:p>
        </p:txBody>
      </p:sp>
      <p:sp>
        <p:nvSpPr>
          <p:cNvPr id="22" name="Shape 19"/>
          <p:cNvSpPr/>
          <p:nvPr/>
        </p:nvSpPr>
        <p:spPr>
          <a:xfrm>
            <a:off x="4361688" y="4297680"/>
            <a:ext cx="3520440" cy="1828800"/>
          </a:xfrm>
          <a:prstGeom prst="rect">
            <a:avLst/>
          </a:prstGeom>
          <a:solidFill>
            <a:srgbClr val="FBF7F2"/>
          </a:solidFill>
          <a:ln/>
        </p:spPr>
        <p:txBody>
          <a:bodyPr/>
          <a:lstStyle/>
          <a:p>
            <a:endParaRPr lang="en-US"/>
          </a:p>
        </p:txBody>
      </p:sp>
      <p:sp>
        <p:nvSpPr>
          <p:cNvPr id="23" name="Shape 20"/>
          <p:cNvSpPr/>
          <p:nvPr/>
        </p:nvSpPr>
        <p:spPr>
          <a:xfrm>
            <a:off x="4361688" y="4297680"/>
            <a:ext cx="3520440" cy="73152"/>
          </a:xfrm>
          <a:prstGeom prst="rect">
            <a:avLst/>
          </a:prstGeom>
          <a:solidFill>
            <a:srgbClr val="E62B67"/>
          </a:solidFill>
          <a:ln/>
        </p:spPr>
        <p:txBody>
          <a:bodyPr/>
          <a:lstStyle/>
          <a:p>
            <a:endParaRPr lang="en-US"/>
          </a:p>
        </p:txBody>
      </p:sp>
      <p:sp>
        <p:nvSpPr>
          <p:cNvPr id="24" name="Text 21"/>
          <p:cNvSpPr/>
          <p:nvPr/>
        </p:nvSpPr>
        <p:spPr>
          <a:xfrm>
            <a:off x="4590288" y="4480560"/>
            <a:ext cx="914400" cy="548640"/>
          </a:xfrm>
          <a:prstGeom prst="rect">
            <a:avLst/>
          </a:prstGeom>
          <a:noFill/>
          <a:ln/>
        </p:spPr>
        <p:txBody>
          <a:bodyPr wrap="square" lIns="0" tIns="0" rIns="0" bIns="0" rtlCol="0" anchor="ctr"/>
          <a:lstStyle/>
          <a:p>
            <a:pPr marL="0" indent="0">
              <a:buNone/>
            </a:pPr>
            <a:r>
              <a:rPr lang="en-US" sz="2800" b="1" dirty="0">
                <a:solidFill>
                  <a:srgbClr val="E62B67"/>
                </a:solidFill>
                <a:latin typeface="Arial Black" pitchFamily="34" charset="0"/>
                <a:ea typeface="Arial Black" pitchFamily="34" charset="-122"/>
                <a:cs typeface="Arial Black" pitchFamily="34" charset="-120"/>
              </a:rPr>
              <a:t>05</a:t>
            </a:r>
            <a:endParaRPr lang="en-US" sz="2800" dirty="0"/>
          </a:p>
        </p:txBody>
      </p:sp>
      <p:sp>
        <p:nvSpPr>
          <p:cNvPr id="25" name="Text 22"/>
          <p:cNvSpPr/>
          <p:nvPr/>
        </p:nvSpPr>
        <p:spPr>
          <a:xfrm>
            <a:off x="4590288" y="5074920"/>
            <a:ext cx="3108960" cy="1005840"/>
          </a:xfrm>
          <a:prstGeom prst="rect">
            <a:avLst/>
          </a:prstGeom>
          <a:noFill/>
          <a:ln/>
        </p:spPr>
        <p:txBody>
          <a:bodyPr wrap="square" lIns="0" tIns="0" rIns="0" bIns="0" rtlCol="0" anchor="ctr"/>
          <a:lstStyle/>
          <a:p>
            <a:pPr marL="0" indent="0">
              <a:buNone/>
            </a:pPr>
            <a:r>
              <a:rPr lang="en-US" sz="1100" dirty="0">
                <a:solidFill>
                  <a:srgbClr val="49267A"/>
                </a:solidFill>
                <a:latin typeface="Arial" pitchFamily="34" charset="0"/>
                <a:ea typeface="Arial" pitchFamily="34" charset="-122"/>
                <a:cs typeface="Arial" pitchFamily="34" charset="-120"/>
              </a:rPr>
              <a:t>Clearly define lawful grounds for termination of pregnancy in line with judicial guidance, including circumstances involving sexual violence and threats to physical or mental health.</a:t>
            </a:r>
            <a:endParaRPr lang="en-US" sz="1100" dirty="0"/>
          </a:p>
        </p:txBody>
      </p:sp>
      <p:sp>
        <p:nvSpPr>
          <p:cNvPr id="26" name="Shape 23"/>
          <p:cNvSpPr/>
          <p:nvPr/>
        </p:nvSpPr>
        <p:spPr>
          <a:xfrm>
            <a:off x="8083296" y="4297680"/>
            <a:ext cx="3520440" cy="1828800"/>
          </a:xfrm>
          <a:prstGeom prst="rect">
            <a:avLst/>
          </a:prstGeom>
          <a:solidFill>
            <a:srgbClr val="FBF7F2"/>
          </a:solidFill>
          <a:ln/>
        </p:spPr>
        <p:txBody>
          <a:bodyPr/>
          <a:lstStyle/>
          <a:p>
            <a:endParaRPr lang="en-US"/>
          </a:p>
        </p:txBody>
      </p:sp>
      <p:sp>
        <p:nvSpPr>
          <p:cNvPr id="27" name="Shape 24"/>
          <p:cNvSpPr/>
          <p:nvPr/>
        </p:nvSpPr>
        <p:spPr>
          <a:xfrm>
            <a:off x="8083296" y="4297680"/>
            <a:ext cx="3520440" cy="73152"/>
          </a:xfrm>
          <a:prstGeom prst="rect">
            <a:avLst/>
          </a:prstGeom>
          <a:solidFill>
            <a:srgbClr val="E62B67"/>
          </a:solidFill>
          <a:ln/>
        </p:spPr>
        <p:txBody>
          <a:bodyPr/>
          <a:lstStyle/>
          <a:p>
            <a:endParaRPr lang="en-US"/>
          </a:p>
        </p:txBody>
      </p:sp>
      <p:sp>
        <p:nvSpPr>
          <p:cNvPr id="28" name="Text 25"/>
          <p:cNvSpPr/>
          <p:nvPr/>
        </p:nvSpPr>
        <p:spPr>
          <a:xfrm>
            <a:off x="8311896" y="4480560"/>
            <a:ext cx="914400" cy="548640"/>
          </a:xfrm>
          <a:prstGeom prst="rect">
            <a:avLst/>
          </a:prstGeom>
          <a:noFill/>
          <a:ln/>
        </p:spPr>
        <p:txBody>
          <a:bodyPr wrap="square" lIns="0" tIns="0" rIns="0" bIns="0" rtlCol="0" anchor="ctr"/>
          <a:lstStyle/>
          <a:p>
            <a:pPr marL="0" indent="0">
              <a:buNone/>
            </a:pPr>
            <a:r>
              <a:rPr lang="en-US" sz="2800" b="1" dirty="0">
                <a:solidFill>
                  <a:srgbClr val="E62B67"/>
                </a:solidFill>
                <a:latin typeface="Arial Black" pitchFamily="34" charset="0"/>
                <a:ea typeface="Arial Black" pitchFamily="34" charset="-122"/>
                <a:cs typeface="Arial Black" pitchFamily="34" charset="-120"/>
              </a:rPr>
              <a:t>06</a:t>
            </a:r>
            <a:endParaRPr lang="en-US" sz="2800" dirty="0"/>
          </a:p>
        </p:txBody>
      </p:sp>
      <p:sp>
        <p:nvSpPr>
          <p:cNvPr id="29" name="Text 26"/>
          <p:cNvSpPr/>
          <p:nvPr/>
        </p:nvSpPr>
        <p:spPr>
          <a:xfrm>
            <a:off x="8311896" y="5074920"/>
            <a:ext cx="3108960" cy="1005840"/>
          </a:xfrm>
          <a:prstGeom prst="rect">
            <a:avLst/>
          </a:prstGeom>
          <a:noFill/>
          <a:ln/>
        </p:spPr>
        <p:txBody>
          <a:bodyPr wrap="square" lIns="0" tIns="0" rIns="0" bIns="0" rtlCol="0" anchor="ctr"/>
          <a:lstStyle/>
          <a:p>
            <a:pPr marL="0" indent="0">
              <a:buNone/>
            </a:pPr>
            <a:r>
              <a:rPr lang="en-US" sz="1100" dirty="0">
                <a:solidFill>
                  <a:srgbClr val="49267A"/>
                </a:solidFill>
                <a:latin typeface="Arial" pitchFamily="34" charset="0"/>
                <a:ea typeface="Arial" pitchFamily="34" charset="-122"/>
                <a:cs typeface="Arial" pitchFamily="34" charset="-120"/>
              </a:rPr>
              <a:t>Uphold Nigeria's human rights obligations.</a:t>
            </a:r>
            <a:endParaRPr lang="en-US" sz="1100" dirty="0"/>
          </a:p>
        </p:txBody>
      </p:sp>
      <p:sp>
        <p:nvSpPr>
          <p:cNvPr id="30" name="Shape 27"/>
          <p:cNvSpPr/>
          <p:nvPr/>
        </p:nvSpPr>
        <p:spPr>
          <a:xfrm>
            <a:off x="0" y="6629400"/>
            <a:ext cx="12161520" cy="228600"/>
          </a:xfrm>
          <a:prstGeom prst="rect">
            <a:avLst/>
          </a:prstGeom>
          <a:solidFill>
            <a:srgbClr val="49267A"/>
          </a:solidFill>
          <a:ln/>
        </p:spPr>
        <p:txBody>
          <a:bodyPr/>
          <a:lstStyle/>
          <a:p>
            <a:endParaRPr lang="en-US"/>
          </a:p>
        </p:txBody>
      </p:sp>
      <p:sp>
        <p:nvSpPr>
          <p:cNvPr id="31" name="Text 28"/>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32" name="Text 29"/>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17 / 19</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9267A"/>
        </a:solidFill>
        <a:effectLst/>
      </p:bgPr>
    </p:bg>
    <p:spTree>
      <p:nvGrpSpPr>
        <p:cNvPr id="1" name=""/>
        <p:cNvGrpSpPr/>
        <p:nvPr/>
      </p:nvGrpSpPr>
      <p:grpSpPr>
        <a:xfrm>
          <a:off x="0" y="0"/>
          <a:ext cx="0" cy="0"/>
          <a:chOff x="0" y="0"/>
          <a:chExt cx="0" cy="0"/>
        </a:xfrm>
      </p:grpSpPr>
      <p:pic>
        <p:nvPicPr>
          <p:cNvPr id="2" name="Image 0" descr="/home/claude/work/pamoja_logo_white.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9601200" y="457200"/>
            <a:ext cx="2286000" cy="2286000"/>
          </a:xfrm>
          <a:prstGeom prst="rect">
            <a:avLst/>
          </a:prstGeom>
          <a:noFill/>
          <a:ln/>
        </p:spPr>
        <p:txBody>
          <a:bodyPr wrap="square" lIns="0" tIns="0" rIns="0" bIns="0" rtlCol="0" anchor="ctr"/>
          <a:lstStyle/>
          <a:p>
            <a:pPr marL="0" indent="0">
              <a:buNone/>
            </a:pPr>
            <a:r>
              <a:rPr lang="en-US" sz="20000" dirty="0">
                <a:solidFill>
                  <a:srgbClr val="F8C501">
                    <a:alpha val="40000"/>
                  </a:srgbClr>
                </a:solidFill>
                <a:latin typeface="Arial" pitchFamily="34" charset="0"/>
                <a:ea typeface="Arial" pitchFamily="34" charset="-122"/>
                <a:cs typeface="Arial" pitchFamily="34" charset="-120"/>
              </a:rPr>
              <a:t>✦</a:t>
            </a:r>
            <a:endParaRPr lang="en-US" sz="20000" dirty="0"/>
          </a:p>
        </p:txBody>
      </p:sp>
      <p:sp>
        <p:nvSpPr>
          <p:cNvPr id="4" name="Text 1"/>
          <p:cNvSpPr/>
          <p:nvPr/>
        </p:nvSpPr>
        <p:spPr>
          <a:xfrm>
            <a:off x="640080" y="365760"/>
            <a:ext cx="914400" cy="457200"/>
          </a:xfrm>
          <a:prstGeom prst="rect">
            <a:avLst/>
          </a:prstGeom>
          <a:noFill/>
          <a:ln/>
        </p:spPr>
        <p:txBody>
          <a:bodyPr wrap="square" lIns="0" tIns="0" rIns="0" bIns="0" rtlCol="0" anchor="ctr"/>
          <a:lstStyle/>
          <a:p>
            <a:pPr marL="0" indent="0">
              <a:buNone/>
            </a:pPr>
            <a:r>
              <a:rPr lang="en-US" sz="2400" b="1" dirty="0">
                <a:solidFill>
                  <a:srgbClr val="F8C501"/>
                </a:solidFill>
                <a:latin typeface="Arial Black" pitchFamily="34" charset="0"/>
                <a:ea typeface="Arial Black" pitchFamily="34" charset="-122"/>
                <a:cs typeface="Arial Black" pitchFamily="34" charset="-120"/>
              </a:rPr>
              <a:t>07.2</a:t>
            </a:r>
            <a:endParaRPr lang="en-US" sz="2400" dirty="0"/>
          </a:p>
        </p:txBody>
      </p:sp>
      <p:sp>
        <p:nvSpPr>
          <p:cNvPr id="5" name="Text 2"/>
          <p:cNvSpPr/>
          <p:nvPr/>
        </p:nvSpPr>
        <p:spPr>
          <a:xfrm>
            <a:off x="1554480" y="502920"/>
            <a:ext cx="7315200" cy="274320"/>
          </a:xfrm>
          <a:prstGeom prst="rect">
            <a:avLst/>
          </a:prstGeom>
          <a:noFill/>
          <a:ln/>
        </p:spPr>
        <p:txBody>
          <a:bodyPr wrap="square" lIns="0" tIns="0" rIns="0" bIns="0" rtlCol="0" anchor="ctr"/>
          <a:lstStyle/>
          <a:p>
            <a:pPr marL="0" indent="0">
              <a:buNone/>
            </a:pPr>
            <a:r>
              <a:rPr lang="en-US" sz="1100" b="1" kern="0" spc="400" dirty="0">
                <a:solidFill>
                  <a:srgbClr val="F8C501"/>
                </a:solidFill>
                <a:latin typeface="Arial" pitchFamily="34" charset="0"/>
                <a:ea typeface="Arial" pitchFamily="34" charset="-122"/>
                <a:cs typeface="Arial" pitchFamily="34" charset="-120"/>
              </a:rPr>
              <a:t>A NEW VISION FOR NIGERIA</a:t>
            </a:r>
            <a:endParaRPr lang="en-US" sz="1100" dirty="0"/>
          </a:p>
        </p:txBody>
      </p:sp>
      <p:sp>
        <p:nvSpPr>
          <p:cNvPr id="6" name="Text 3"/>
          <p:cNvSpPr/>
          <p:nvPr/>
        </p:nvSpPr>
        <p:spPr>
          <a:xfrm>
            <a:off x="640080" y="1371600"/>
            <a:ext cx="10972800" cy="914400"/>
          </a:xfrm>
          <a:prstGeom prst="rect">
            <a:avLst/>
          </a:prstGeom>
          <a:noFill/>
          <a:ln/>
        </p:spPr>
        <p:txBody>
          <a:bodyPr wrap="square" lIns="0" tIns="0" rIns="0" bIns="0" rtlCol="0" anchor="ctr"/>
          <a:lstStyle/>
          <a:p>
            <a:pPr marL="0" indent="0">
              <a:buNone/>
            </a:pPr>
            <a:r>
              <a:rPr lang="en-US" sz="3600" b="1" kern="0" spc="-50" dirty="0">
                <a:solidFill>
                  <a:srgbClr val="FFFFFF"/>
                </a:solidFill>
                <a:latin typeface="Arial Black" pitchFamily="34" charset="0"/>
                <a:ea typeface="Arial Black" pitchFamily="34" charset="-122"/>
                <a:cs typeface="Arial Black" pitchFamily="34" charset="-120"/>
              </a:rPr>
              <a:t>A Nigeria where —</a:t>
            </a:r>
            <a:endParaRPr lang="en-US" sz="3600" dirty="0"/>
          </a:p>
        </p:txBody>
      </p:sp>
      <p:sp>
        <p:nvSpPr>
          <p:cNvPr id="7" name="Text 4"/>
          <p:cNvSpPr/>
          <p:nvPr/>
        </p:nvSpPr>
        <p:spPr>
          <a:xfrm>
            <a:off x="640080" y="2560320"/>
            <a:ext cx="365760" cy="457200"/>
          </a:xfrm>
          <a:prstGeom prst="rect">
            <a:avLst/>
          </a:prstGeom>
          <a:noFill/>
          <a:ln/>
        </p:spPr>
        <p:txBody>
          <a:bodyPr wrap="square" lIns="0" tIns="0" rIns="0" bIns="0" rtlCol="0" anchor="ctr"/>
          <a:lstStyle/>
          <a:p>
            <a:pPr marL="0" indent="0">
              <a:buNone/>
            </a:pPr>
            <a:r>
              <a:rPr lang="en-US" sz="2200" dirty="0">
                <a:solidFill>
                  <a:srgbClr val="F8C501"/>
                </a:solidFill>
                <a:latin typeface="Arial" pitchFamily="34" charset="0"/>
                <a:ea typeface="Arial" pitchFamily="34" charset="-122"/>
                <a:cs typeface="Arial" pitchFamily="34" charset="-120"/>
              </a:rPr>
              <a:t>✦</a:t>
            </a:r>
            <a:endParaRPr lang="en-US" sz="2200" dirty="0"/>
          </a:p>
        </p:txBody>
      </p:sp>
      <p:sp>
        <p:nvSpPr>
          <p:cNvPr id="8" name="Text 5"/>
          <p:cNvSpPr/>
          <p:nvPr/>
        </p:nvSpPr>
        <p:spPr>
          <a:xfrm>
            <a:off x="1097280" y="2560320"/>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No woman dies because she sought care.</a:t>
            </a:r>
            <a:endParaRPr lang="en-US" sz="2200" dirty="0"/>
          </a:p>
        </p:txBody>
      </p:sp>
      <p:sp>
        <p:nvSpPr>
          <p:cNvPr id="9" name="Text 6"/>
          <p:cNvSpPr/>
          <p:nvPr/>
        </p:nvSpPr>
        <p:spPr>
          <a:xfrm>
            <a:off x="640080" y="3154680"/>
            <a:ext cx="365760" cy="457200"/>
          </a:xfrm>
          <a:prstGeom prst="rect">
            <a:avLst/>
          </a:prstGeom>
          <a:noFill/>
          <a:ln/>
        </p:spPr>
        <p:txBody>
          <a:bodyPr wrap="square" lIns="0" tIns="0" rIns="0" bIns="0" rtlCol="0" anchor="ctr"/>
          <a:lstStyle/>
          <a:p>
            <a:pPr marL="0" indent="0">
              <a:buNone/>
            </a:pPr>
            <a:r>
              <a:rPr lang="en-US" sz="2200" dirty="0">
                <a:solidFill>
                  <a:srgbClr val="F8C501"/>
                </a:solidFill>
                <a:latin typeface="Arial" pitchFamily="34" charset="0"/>
                <a:ea typeface="Arial" pitchFamily="34" charset="-122"/>
                <a:cs typeface="Arial" pitchFamily="34" charset="-120"/>
              </a:rPr>
              <a:t>✦</a:t>
            </a:r>
            <a:endParaRPr lang="en-US" sz="2200" dirty="0"/>
          </a:p>
        </p:txBody>
      </p:sp>
      <p:sp>
        <p:nvSpPr>
          <p:cNvPr id="10" name="Text 7"/>
          <p:cNvSpPr/>
          <p:nvPr/>
        </p:nvSpPr>
        <p:spPr>
          <a:xfrm>
            <a:off x="1097280" y="3154680"/>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No girl is forced into motherhood.</a:t>
            </a:r>
            <a:endParaRPr lang="en-US" sz="2200" dirty="0"/>
          </a:p>
        </p:txBody>
      </p:sp>
      <p:sp>
        <p:nvSpPr>
          <p:cNvPr id="11" name="Text 8"/>
          <p:cNvSpPr/>
          <p:nvPr/>
        </p:nvSpPr>
        <p:spPr>
          <a:xfrm>
            <a:off x="640080" y="3749040"/>
            <a:ext cx="365760" cy="457200"/>
          </a:xfrm>
          <a:prstGeom prst="rect">
            <a:avLst/>
          </a:prstGeom>
          <a:noFill/>
          <a:ln/>
        </p:spPr>
        <p:txBody>
          <a:bodyPr wrap="square" lIns="0" tIns="0" rIns="0" bIns="0" rtlCol="0" anchor="ctr"/>
          <a:lstStyle/>
          <a:p>
            <a:pPr marL="0" indent="0">
              <a:buNone/>
            </a:pPr>
            <a:r>
              <a:rPr lang="en-US" sz="2200" dirty="0">
                <a:solidFill>
                  <a:srgbClr val="F8C501"/>
                </a:solidFill>
                <a:latin typeface="Arial" pitchFamily="34" charset="0"/>
                <a:ea typeface="Arial" pitchFamily="34" charset="-122"/>
                <a:cs typeface="Arial" pitchFamily="34" charset="-120"/>
              </a:rPr>
              <a:t>✦</a:t>
            </a:r>
            <a:endParaRPr lang="en-US" sz="2200" dirty="0"/>
          </a:p>
        </p:txBody>
      </p:sp>
      <p:sp>
        <p:nvSpPr>
          <p:cNvPr id="12" name="Text 9"/>
          <p:cNvSpPr/>
          <p:nvPr/>
        </p:nvSpPr>
        <p:spPr>
          <a:xfrm>
            <a:off x="1097280" y="3749040"/>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Gender equality is real — not aspirational.</a:t>
            </a:r>
            <a:endParaRPr lang="en-US" sz="2200" dirty="0"/>
          </a:p>
        </p:txBody>
      </p:sp>
      <p:sp>
        <p:nvSpPr>
          <p:cNvPr id="13" name="Text 10"/>
          <p:cNvSpPr/>
          <p:nvPr/>
        </p:nvSpPr>
        <p:spPr>
          <a:xfrm>
            <a:off x="640080" y="4343400"/>
            <a:ext cx="365760" cy="457200"/>
          </a:xfrm>
          <a:prstGeom prst="rect">
            <a:avLst/>
          </a:prstGeom>
          <a:noFill/>
          <a:ln/>
        </p:spPr>
        <p:txBody>
          <a:bodyPr wrap="square" lIns="0" tIns="0" rIns="0" bIns="0" rtlCol="0" anchor="ctr"/>
          <a:lstStyle/>
          <a:p>
            <a:pPr marL="0" indent="0">
              <a:buNone/>
            </a:pPr>
            <a:r>
              <a:rPr lang="en-US" sz="2200" dirty="0">
                <a:solidFill>
                  <a:srgbClr val="F8C501"/>
                </a:solidFill>
                <a:latin typeface="Arial" pitchFamily="34" charset="0"/>
                <a:ea typeface="Arial" pitchFamily="34" charset="-122"/>
                <a:cs typeface="Arial" pitchFamily="34" charset="-120"/>
              </a:rPr>
              <a:t>✦</a:t>
            </a:r>
            <a:endParaRPr lang="en-US" sz="2200" dirty="0"/>
          </a:p>
        </p:txBody>
      </p:sp>
      <p:sp>
        <p:nvSpPr>
          <p:cNvPr id="14" name="Text 11"/>
          <p:cNvSpPr/>
          <p:nvPr/>
        </p:nvSpPr>
        <p:spPr>
          <a:xfrm>
            <a:off x="1097280" y="4343400"/>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Laws reflect science, compassion, and justice.</a:t>
            </a:r>
            <a:endParaRPr lang="en-US" sz="2200" dirty="0"/>
          </a:p>
        </p:txBody>
      </p:sp>
      <p:sp>
        <p:nvSpPr>
          <p:cNvPr id="15" name="Text 12"/>
          <p:cNvSpPr/>
          <p:nvPr/>
        </p:nvSpPr>
        <p:spPr>
          <a:xfrm>
            <a:off x="640080" y="4937760"/>
            <a:ext cx="365760" cy="457200"/>
          </a:xfrm>
          <a:prstGeom prst="rect">
            <a:avLst/>
          </a:prstGeom>
          <a:noFill/>
          <a:ln/>
        </p:spPr>
        <p:txBody>
          <a:bodyPr wrap="square" lIns="0" tIns="0" rIns="0" bIns="0" rtlCol="0" anchor="ctr"/>
          <a:lstStyle/>
          <a:p>
            <a:pPr marL="0" indent="0">
              <a:buNone/>
            </a:pPr>
            <a:r>
              <a:rPr lang="en-US" sz="2200" dirty="0">
                <a:solidFill>
                  <a:srgbClr val="F8C501"/>
                </a:solidFill>
                <a:latin typeface="Arial" pitchFamily="34" charset="0"/>
                <a:ea typeface="Arial" pitchFamily="34" charset="-122"/>
                <a:cs typeface="Arial" pitchFamily="34" charset="-120"/>
              </a:rPr>
              <a:t>✦</a:t>
            </a:r>
            <a:endParaRPr lang="en-US" sz="2200" dirty="0"/>
          </a:p>
        </p:txBody>
      </p:sp>
      <p:sp>
        <p:nvSpPr>
          <p:cNvPr id="16" name="Text 13"/>
          <p:cNvSpPr/>
          <p:nvPr/>
        </p:nvSpPr>
        <p:spPr>
          <a:xfrm>
            <a:off x="1097280" y="4937760"/>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Public health policies are coherent and effective.</a:t>
            </a:r>
            <a:endParaRPr lang="en-US" sz="2200" dirty="0"/>
          </a:p>
        </p:txBody>
      </p:sp>
      <p:sp>
        <p:nvSpPr>
          <p:cNvPr id="17" name="Shape 14"/>
          <p:cNvSpPr/>
          <p:nvPr/>
        </p:nvSpPr>
        <p:spPr>
          <a:xfrm>
            <a:off x="640080" y="5852160"/>
            <a:ext cx="1097280" cy="0"/>
          </a:xfrm>
          <a:prstGeom prst="line">
            <a:avLst/>
          </a:prstGeom>
          <a:noFill/>
          <a:ln w="50800">
            <a:solidFill>
              <a:srgbClr val="F8C501"/>
            </a:solidFill>
            <a:prstDash val="solid"/>
          </a:ln>
        </p:spPr>
        <p:txBody>
          <a:bodyPr/>
          <a:lstStyle/>
          <a:p>
            <a:endParaRPr lang="en-US"/>
          </a:p>
        </p:txBody>
      </p:sp>
      <p:sp>
        <p:nvSpPr>
          <p:cNvPr id="18" name="Text 15"/>
          <p:cNvSpPr/>
          <p:nvPr/>
        </p:nvSpPr>
        <p:spPr>
          <a:xfrm>
            <a:off x="640080" y="6035040"/>
            <a:ext cx="10058400" cy="548640"/>
          </a:xfrm>
          <a:prstGeom prst="rect">
            <a:avLst/>
          </a:prstGeom>
          <a:noFill/>
          <a:ln/>
        </p:spPr>
        <p:txBody>
          <a:bodyPr wrap="square" lIns="0" tIns="0" rIns="0" bIns="0" rtlCol="0" anchor="ctr"/>
          <a:lstStyle/>
          <a:p>
            <a:pPr marL="0" indent="0">
              <a:buNone/>
            </a:pPr>
            <a:r>
              <a:rPr lang="en-US" sz="1400" i="1" dirty="0">
                <a:solidFill>
                  <a:srgbClr val="F8C501"/>
                </a:solidFill>
                <a:latin typeface="Arial" pitchFamily="34" charset="0"/>
                <a:ea typeface="Arial" pitchFamily="34" charset="-122"/>
                <a:cs typeface="Arial" pitchFamily="34" charset="-120"/>
              </a:rPr>
              <a:t>This is not a radical vision — it is a necessary one. It is the path most African countries are already taking.</a:t>
            </a:r>
            <a:endParaRPr lang="en-US" sz="1400" dirty="0"/>
          </a:p>
        </p:txBody>
      </p:sp>
      <p:sp>
        <p:nvSpPr>
          <p:cNvPr id="19" name="Shape 16"/>
          <p:cNvSpPr/>
          <p:nvPr/>
        </p:nvSpPr>
        <p:spPr>
          <a:xfrm>
            <a:off x="0" y="6629400"/>
            <a:ext cx="12161520" cy="228600"/>
          </a:xfrm>
          <a:prstGeom prst="rect">
            <a:avLst/>
          </a:prstGeom>
          <a:solidFill>
            <a:srgbClr val="49267A"/>
          </a:solidFill>
          <a:ln/>
        </p:spPr>
        <p:txBody>
          <a:bodyPr/>
          <a:lstStyle/>
          <a:p>
            <a:endParaRPr lang="en-US"/>
          </a:p>
        </p:txBody>
      </p:sp>
      <p:sp>
        <p:nvSpPr>
          <p:cNvPr id="20" name="Text 17"/>
          <p:cNvSpPr/>
          <p:nvPr/>
        </p:nvSpPr>
        <p:spPr>
          <a:xfrm>
            <a:off x="457200" y="6647688"/>
            <a:ext cx="7315200" cy="201168"/>
          </a:xfrm>
          <a:prstGeom prst="rect">
            <a:avLst/>
          </a:prstGeom>
          <a:noFill/>
          <a:ln/>
        </p:spPr>
        <p:txBody>
          <a:bodyPr wrap="square" lIns="0" tIns="0" rIns="0" bIns="0" rtlCol="0" anchor="ctr"/>
          <a:lstStyle/>
          <a:p>
            <a:pPr marL="0" indent="0">
              <a:buNone/>
            </a:pPr>
            <a:r>
              <a:rPr lang="en-US" sz="800" kern="0" spc="200" dirty="0">
                <a:solidFill>
                  <a:srgbClr val="FFFFFF"/>
                </a:solidFill>
                <a:latin typeface="Arial" pitchFamily="34" charset="0"/>
                <a:ea typeface="Arial" pitchFamily="34" charset="-122"/>
                <a:cs typeface="Arial" pitchFamily="34" charset="-120"/>
              </a:rPr>
              <a:t>ADVOCACY BRIEF  ·  RECONSIDERING NIGERIA'S RESTRICTIVE ABORTION LAWS</a:t>
            </a:r>
            <a:endParaRPr lang="en-US" sz="800" dirty="0"/>
          </a:p>
        </p:txBody>
      </p:sp>
      <p:sp>
        <p:nvSpPr>
          <p:cNvPr id="21" name="Text 18"/>
          <p:cNvSpPr/>
          <p:nvPr/>
        </p:nvSpPr>
        <p:spPr>
          <a:xfrm>
            <a:off x="11338560" y="6647688"/>
            <a:ext cx="457200" cy="20116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18 / 19</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a:effectLst/>
      </p:bgPr>
    </p:bg>
    <p:spTree>
      <p:nvGrpSpPr>
        <p:cNvPr id="1" name=""/>
        <p:cNvGrpSpPr/>
        <p:nvPr/>
      </p:nvGrpSpPr>
      <p:grpSpPr>
        <a:xfrm>
          <a:off x="0" y="0"/>
          <a:ext cx="0" cy="0"/>
          <a:chOff x="0" y="0"/>
          <a:chExt cx="0" cy="0"/>
        </a:xfrm>
      </p:grpSpPr>
      <p:pic>
        <p:nvPicPr>
          <p:cNvPr id="2" name="Image 0" descr="/home/claude/work/pamoja_logo_white.png"/>
          <p:cNvPicPr>
            <a:picLocks noChangeAspect="1"/>
          </p:cNvPicPr>
          <p:nvPr/>
        </p:nvPicPr>
        <p:blipFill>
          <a:blip r:embed="rId3"/>
          <a:srcRect/>
          <a:stretch/>
        </p:blipFill>
        <p:spPr>
          <a:xfrm>
            <a:off x="10698480" y="274320"/>
            <a:ext cx="1188720" cy="365760"/>
          </a:xfrm>
          <a:prstGeom prst="rect">
            <a:avLst/>
          </a:prstGeom>
        </p:spPr>
      </p:pic>
      <p:sp>
        <p:nvSpPr>
          <p:cNvPr id="3" name="Text 0"/>
          <p:cNvSpPr/>
          <p:nvPr/>
        </p:nvSpPr>
        <p:spPr>
          <a:xfrm>
            <a:off x="-914400" y="3657600"/>
            <a:ext cx="4572000" cy="4572000"/>
          </a:xfrm>
          <a:prstGeom prst="rect">
            <a:avLst/>
          </a:prstGeom>
          <a:noFill/>
          <a:ln/>
        </p:spPr>
        <p:txBody>
          <a:bodyPr wrap="square" lIns="0" tIns="0" rIns="0" bIns="0" rtlCol="0" anchor="ctr"/>
          <a:lstStyle/>
          <a:p>
            <a:pPr marL="0" indent="0">
              <a:buNone/>
            </a:pPr>
            <a:r>
              <a:rPr lang="en-US" sz="36000" dirty="0">
                <a:solidFill>
                  <a:srgbClr val="E62B67">
                    <a:alpha val="35000"/>
                  </a:srgbClr>
                </a:solidFill>
                <a:latin typeface="Arial" pitchFamily="34" charset="0"/>
                <a:ea typeface="Arial" pitchFamily="34" charset="-122"/>
                <a:cs typeface="Arial" pitchFamily="34" charset="-120"/>
              </a:rPr>
              <a:t>✦</a:t>
            </a:r>
            <a:endParaRPr lang="en-US" sz="36000" dirty="0"/>
          </a:p>
        </p:txBody>
      </p:sp>
      <p:sp>
        <p:nvSpPr>
          <p:cNvPr id="4" name="Text 1"/>
          <p:cNvSpPr/>
          <p:nvPr/>
        </p:nvSpPr>
        <p:spPr>
          <a:xfrm>
            <a:off x="8229600" y="-914400"/>
            <a:ext cx="3657600" cy="3657600"/>
          </a:xfrm>
          <a:prstGeom prst="rect">
            <a:avLst/>
          </a:prstGeom>
          <a:noFill/>
          <a:ln/>
        </p:spPr>
        <p:txBody>
          <a:bodyPr wrap="square" lIns="0" tIns="0" rIns="0" bIns="0" rtlCol="0" anchor="ctr"/>
          <a:lstStyle/>
          <a:p>
            <a:pPr marL="0" indent="0">
              <a:buNone/>
            </a:pPr>
            <a:r>
              <a:rPr lang="en-US" sz="28000" dirty="0">
                <a:solidFill>
                  <a:srgbClr val="F8C501">
                    <a:alpha val="25000"/>
                  </a:srgbClr>
                </a:solidFill>
                <a:latin typeface="Arial" pitchFamily="34" charset="0"/>
                <a:ea typeface="Arial" pitchFamily="34" charset="-122"/>
                <a:cs typeface="Arial" pitchFamily="34" charset="-120"/>
              </a:rPr>
              <a:t>✦</a:t>
            </a:r>
            <a:endParaRPr lang="en-US" sz="28000" dirty="0"/>
          </a:p>
        </p:txBody>
      </p:sp>
      <p:sp>
        <p:nvSpPr>
          <p:cNvPr id="5" name="Text 2"/>
          <p:cNvSpPr/>
          <p:nvPr/>
        </p:nvSpPr>
        <p:spPr>
          <a:xfrm>
            <a:off x="640080" y="548640"/>
            <a:ext cx="5486400" cy="365760"/>
          </a:xfrm>
          <a:prstGeom prst="rect">
            <a:avLst/>
          </a:prstGeom>
          <a:noFill/>
          <a:ln/>
        </p:spPr>
        <p:txBody>
          <a:bodyPr wrap="square" lIns="0" tIns="0" rIns="0" bIns="0" rtlCol="0" anchor="ctr"/>
          <a:lstStyle/>
          <a:p>
            <a:pPr marL="0" indent="0">
              <a:buNone/>
            </a:pPr>
            <a:r>
              <a:rPr lang="en-US" sz="1100" b="1" kern="0" spc="600" dirty="0">
                <a:solidFill>
                  <a:srgbClr val="F8C501"/>
                </a:solidFill>
                <a:latin typeface="Arial" pitchFamily="34" charset="0"/>
                <a:ea typeface="Arial" pitchFamily="34" charset="-122"/>
                <a:cs typeface="Arial" pitchFamily="34" charset="-120"/>
              </a:rPr>
              <a:t>CONCLUSION</a:t>
            </a:r>
            <a:endParaRPr lang="en-US" sz="1100" dirty="0"/>
          </a:p>
        </p:txBody>
      </p:sp>
      <p:sp>
        <p:nvSpPr>
          <p:cNvPr id="6" name="Text 3"/>
          <p:cNvSpPr/>
          <p:nvPr/>
        </p:nvSpPr>
        <p:spPr>
          <a:xfrm>
            <a:off x="640080" y="1188720"/>
            <a:ext cx="10972800" cy="2011680"/>
          </a:xfrm>
          <a:prstGeom prst="rect">
            <a:avLst/>
          </a:prstGeom>
          <a:noFill/>
          <a:ln/>
        </p:spPr>
        <p:txBody>
          <a:bodyPr wrap="square" lIns="0" tIns="0" rIns="0" bIns="0" rtlCol="0" anchor="ctr"/>
          <a:lstStyle/>
          <a:p>
            <a:pPr marL="0" indent="0">
              <a:buNone/>
            </a:pPr>
            <a:r>
              <a:rPr lang="en-US" sz="4800" b="1" kern="0" spc="-100" dirty="0">
                <a:solidFill>
                  <a:srgbClr val="FFFFFF"/>
                </a:solidFill>
                <a:latin typeface="Arial Black" pitchFamily="34" charset="0"/>
                <a:ea typeface="Arial Black" pitchFamily="34" charset="-122"/>
                <a:cs typeface="Arial Black" pitchFamily="34" charset="-120"/>
              </a:rPr>
              <a:t>Legislators hold the pen</a:t>
            </a:r>
            <a:endParaRPr lang="en-US" sz="4800" dirty="0"/>
          </a:p>
          <a:p>
            <a:pPr marL="0" indent="0">
              <a:buNone/>
            </a:pPr>
            <a:r>
              <a:rPr lang="en-US" sz="4800" b="1" kern="0" spc="-100" dirty="0">
                <a:solidFill>
                  <a:srgbClr val="FFFFFF"/>
                </a:solidFill>
                <a:latin typeface="Arial Black" pitchFamily="34" charset="0"/>
                <a:ea typeface="Arial Black" pitchFamily="34" charset="-122"/>
                <a:cs typeface="Arial Black" pitchFamily="34" charset="-120"/>
              </a:rPr>
              <a:t>that can save lives.</a:t>
            </a:r>
            <a:endParaRPr lang="en-US" sz="4800" dirty="0"/>
          </a:p>
        </p:txBody>
      </p:sp>
      <p:sp>
        <p:nvSpPr>
          <p:cNvPr id="7" name="Shape 4"/>
          <p:cNvSpPr/>
          <p:nvPr/>
        </p:nvSpPr>
        <p:spPr>
          <a:xfrm>
            <a:off x="640080" y="3200400"/>
            <a:ext cx="1097280" cy="0"/>
          </a:xfrm>
          <a:prstGeom prst="line">
            <a:avLst/>
          </a:prstGeom>
          <a:noFill/>
          <a:ln w="50800">
            <a:solidFill>
              <a:srgbClr val="E62B67"/>
            </a:solidFill>
            <a:prstDash val="solid"/>
          </a:ln>
        </p:spPr>
        <p:txBody>
          <a:bodyPr/>
          <a:lstStyle/>
          <a:p>
            <a:endParaRPr lang="en-US"/>
          </a:p>
        </p:txBody>
      </p:sp>
      <p:sp>
        <p:nvSpPr>
          <p:cNvPr id="8" name="Text 5"/>
          <p:cNvSpPr/>
          <p:nvPr/>
        </p:nvSpPr>
        <p:spPr>
          <a:xfrm>
            <a:off x="640080" y="3474720"/>
            <a:ext cx="10972800" cy="822960"/>
          </a:xfrm>
          <a:prstGeom prst="rect">
            <a:avLst/>
          </a:prstGeom>
          <a:noFill/>
          <a:ln/>
        </p:spPr>
        <p:txBody>
          <a:bodyPr wrap="square" lIns="0" tIns="0" rIns="0" bIns="0" rtlCol="0" anchor="ctr"/>
          <a:lstStyle/>
          <a:p>
            <a:pPr marL="0" indent="0">
              <a:buNone/>
            </a:pPr>
            <a:r>
              <a:rPr lang="en-US" sz="1800" b="1" i="1" dirty="0">
                <a:solidFill>
                  <a:srgbClr val="F8C501"/>
                </a:solidFill>
                <a:latin typeface="Arial Black" pitchFamily="34" charset="0"/>
                <a:ea typeface="Arial Black" pitchFamily="34" charset="-122"/>
                <a:cs typeface="Arial Black" pitchFamily="34" charset="-120"/>
              </a:rPr>
              <a:t>The criminalisation of abortion is not a moral stance — it is a policy choice with deadly consequences.</a:t>
            </a:r>
            <a:endParaRPr lang="en-US" sz="1800" dirty="0"/>
          </a:p>
        </p:txBody>
      </p:sp>
      <p:sp>
        <p:nvSpPr>
          <p:cNvPr id="9" name="Text 6"/>
          <p:cNvSpPr/>
          <p:nvPr/>
        </p:nvSpPr>
        <p:spPr>
          <a:xfrm>
            <a:off x="640080" y="4434840"/>
            <a:ext cx="7772400" cy="1737360"/>
          </a:xfrm>
          <a:prstGeom prst="rect">
            <a:avLst/>
          </a:prstGeom>
          <a:noFill/>
          <a:ln/>
        </p:spPr>
        <p:txBody>
          <a:bodyPr wrap="square" lIns="0" tIns="0" rIns="0" bIns="0" rtlCol="0" anchor="ctr"/>
          <a:lstStyle/>
          <a:p>
            <a:pPr marL="0" indent="0">
              <a:spcAft>
                <a:spcPts val="800"/>
              </a:spcAft>
              <a:buNone/>
            </a:pPr>
            <a:r>
              <a:rPr lang="en-US" sz="1300" dirty="0">
                <a:solidFill>
                  <a:srgbClr val="FFFFFF"/>
                </a:solidFill>
                <a:latin typeface="Arial" pitchFamily="34" charset="0"/>
                <a:ea typeface="Arial" pitchFamily="34" charset="-122"/>
                <a:cs typeface="Arial" pitchFamily="34" charset="-120"/>
              </a:rPr>
              <a:t>Reforming Nigeria's abortion laws is not about promoting abortion. It is about saving lives, protecting women, supporting families, strengthening the health system, and aligning the law with national priorities.</a:t>
            </a:r>
            <a:endParaRPr lang="en-US" sz="1300" dirty="0"/>
          </a:p>
          <a:p>
            <a:pPr marL="0" indent="0">
              <a:spcAft>
                <a:spcPts val="800"/>
              </a:spcAft>
              <a:buNone/>
            </a:pPr>
            <a:endParaRPr lang="en-US" sz="1300" dirty="0"/>
          </a:p>
          <a:p>
            <a:pPr marL="0" indent="0">
              <a:spcAft>
                <a:spcPts val="800"/>
              </a:spcAft>
              <a:buNone/>
            </a:pPr>
            <a:r>
              <a:rPr lang="en-US" sz="1300" dirty="0">
                <a:solidFill>
                  <a:srgbClr val="FFFFFF"/>
                </a:solidFill>
                <a:latin typeface="Arial" pitchFamily="34" charset="0"/>
                <a:ea typeface="Arial" pitchFamily="34" charset="-122"/>
                <a:cs typeface="Arial" pitchFamily="34" charset="-120"/>
              </a:rPr>
              <a:t>Nigeria's daughters deserve better. Our mothers deserve better. Our nation deserves better.</a:t>
            </a:r>
            <a:endParaRPr lang="en-US" sz="1300" dirty="0"/>
          </a:p>
        </p:txBody>
      </p:sp>
      <p:sp>
        <p:nvSpPr>
          <p:cNvPr id="10" name="Shape 7"/>
          <p:cNvSpPr/>
          <p:nvPr/>
        </p:nvSpPr>
        <p:spPr>
          <a:xfrm>
            <a:off x="8869680" y="4434840"/>
            <a:ext cx="2743200" cy="1737360"/>
          </a:xfrm>
          <a:prstGeom prst="rect">
            <a:avLst/>
          </a:prstGeom>
          <a:solidFill>
            <a:srgbClr val="E62B67"/>
          </a:solidFill>
          <a:ln/>
        </p:spPr>
        <p:txBody>
          <a:bodyPr/>
          <a:lstStyle/>
          <a:p>
            <a:endParaRPr lang="en-US"/>
          </a:p>
        </p:txBody>
      </p:sp>
      <p:sp>
        <p:nvSpPr>
          <p:cNvPr id="11" name="Text 8"/>
          <p:cNvSpPr/>
          <p:nvPr/>
        </p:nvSpPr>
        <p:spPr>
          <a:xfrm>
            <a:off x="9052560" y="4526280"/>
            <a:ext cx="2377440" cy="274320"/>
          </a:xfrm>
          <a:prstGeom prst="rect">
            <a:avLst/>
          </a:prstGeom>
          <a:noFill/>
          <a:ln/>
        </p:spPr>
        <p:txBody>
          <a:bodyPr wrap="square" lIns="0" tIns="0" rIns="0" bIns="0" rtlCol="0" anchor="ctr"/>
          <a:lstStyle/>
          <a:p>
            <a:pPr marL="0" indent="0">
              <a:buNone/>
            </a:pPr>
            <a:r>
              <a:rPr lang="en-US" sz="1000" b="1" kern="0" spc="300" dirty="0">
                <a:solidFill>
                  <a:srgbClr val="F8C501"/>
                </a:solidFill>
                <a:latin typeface="Arial Black" pitchFamily="34" charset="0"/>
                <a:ea typeface="Arial Black" pitchFamily="34" charset="-122"/>
                <a:cs typeface="Arial Black" pitchFamily="34" charset="-120"/>
              </a:rPr>
              <a:t>WHAT WE ASK</a:t>
            </a:r>
            <a:endParaRPr lang="en-US" sz="1000" dirty="0"/>
          </a:p>
        </p:txBody>
      </p:sp>
      <p:sp>
        <p:nvSpPr>
          <p:cNvPr id="12" name="Text 9"/>
          <p:cNvSpPr/>
          <p:nvPr/>
        </p:nvSpPr>
        <p:spPr>
          <a:xfrm>
            <a:off x="9052560" y="4846320"/>
            <a:ext cx="2377440" cy="1280160"/>
          </a:xfrm>
          <a:prstGeom prst="rect">
            <a:avLst/>
          </a:prstGeom>
          <a:noFill/>
          <a:ln/>
        </p:spPr>
        <p:txBody>
          <a:bodyPr wrap="square" lIns="0" tIns="0" rIns="0" bIns="0" rtlCol="0" anchor="ctr"/>
          <a:lstStyle/>
          <a:p>
            <a:pPr marL="0" indent="0">
              <a:buNone/>
            </a:pPr>
            <a:r>
              <a:rPr lang="en-US" sz="1050" i="1" dirty="0">
                <a:solidFill>
                  <a:srgbClr val="FFFFFF"/>
                </a:solidFill>
                <a:latin typeface="Arial" pitchFamily="34" charset="0"/>
                <a:ea typeface="Arial" pitchFamily="34" charset="-122"/>
                <a:cs typeface="Arial" pitchFamily="34" charset="-120"/>
              </a:rPr>
              <a:t>Bring Nigeria's laws into alignment with its courts, its policies, and its duty to protect life, dignity, and the integrity of its healthcare system.</a:t>
            </a:r>
            <a:endParaRPr lang="en-US" sz="1050" dirty="0"/>
          </a:p>
        </p:txBody>
      </p:sp>
      <p:sp>
        <p:nvSpPr>
          <p:cNvPr id="13" name="Shape 10"/>
          <p:cNvSpPr/>
          <p:nvPr/>
        </p:nvSpPr>
        <p:spPr>
          <a:xfrm>
            <a:off x="0" y="6446520"/>
            <a:ext cx="12161520" cy="411480"/>
          </a:xfrm>
          <a:prstGeom prst="rect">
            <a:avLst/>
          </a:prstGeom>
          <a:solidFill>
            <a:srgbClr val="E62B67"/>
          </a:solidFill>
          <a:ln/>
        </p:spPr>
        <p:txBody>
          <a:bodyPr/>
          <a:lstStyle/>
          <a:p>
            <a:endParaRPr lang="en-US"/>
          </a:p>
        </p:txBody>
      </p:sp>
      <p:sp>
        <p:nvSpPr>
          <p:cNvPr id="14" name="Text 11"/>
          <p:cNvSpPr/>
          <p:nvPr/>
        </p:nvSpPr>
        <p:spPr>
          <a:xfrm>
            <a:off x="457200" y="6446520"/>
            <a:ext cx="10972800" cy="411480"/>
          </a:xfrm>
          <a:prstGeom prst="rect">
            <a:avLst/>
          </a:prstGeom>
          <a:noFill/>
          <a:ln/>
        </p:spPr>
        <p:txBody>
          <a:bodyPr wrap="square" lIns="0" tIns="0" rIns="0" bIns="0" rtlCol="0" anchor="ctr"/>
          <a:lstStyle/>
          <a:p>
            <a:pPr marL="0" indent="0">
              <a:buNone/>
            </a:pPr>
            <a:r>
              <a:rPr lang="en-US" sz="1000" b="1" kern="0" spc="300" dirty="0">
                <a:solidFill>
                  <a:srgbClr val="FFFFFF"/>
                </a:solidFill>
                <a:latin typeface="Arial" pitchFamily="34" charset="0"/>
                <a:ea typeface="Arial" pitchFamily="34" charset="-122"/>
                <a:cs typeface="Arial" pitchFamily="34" charset="-120"/>
              </a:rPr>
              <a:t>PAMOJA  ·  CIVIL SOCIETY ORGANISATIONS TOGETHER TO MAKE ABORTION SAFE IN AFRICA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2273</Words>
  <Application>Microsoft Macintosh PowerPoint</Application>
  <PresentationFormat>Grand écran</PresentationFormat>
  <Paragraphs>300</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Arial Black</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Pamoja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Reconsidering Nigeria's Restrictive Abortion Laws — Advocacy Brief</dc:title>
  <dc:subject>PptxGenJS Presentation</dc:subject>
  <dc:creator>Pamoja</dc:creator>
  <cp:lastModifiedBy>Mamadou Mactar DIALLO</cp:lastModifiedBy>
  <cp:revision>1</cp:revision>
  <dcterms:created xsi:type="dcterms:W3CDTF">2026-04-22T22:11:17Z</dcterms:created>
  <dcterms:modified xsi:type="dcterms:W3CDTF">2026-04-22T22:26:45Z</dcterms:modified>
</cp:coreProperties>
</file>